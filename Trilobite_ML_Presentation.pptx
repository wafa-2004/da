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8" r:id="rId4"/>
    <p:sldId id="258" r:id="rId5"/>
    <p:sldId id="289" r:id="rId6"/>
    <p:sldId id="259" r:id="rId7"/>
    <p:sldId id="283" r:id="rId8"/>
    <p:sldId id="265" r:id="rId9"/>
    <p:sldId id="271" r:id="rId10"/>
    <p:sldId id="262" r:id="rId11"/>
    <p:sldId id="272" r:id="rId12"/>
    <p:sldId id="260" r:id="rId13"/>
    <p:sldId id="274" r:id="rId14"/>
    <p:sldId id="286" r:id="rId15"/>
    <p:sldId id="269" r:id="rId16"/>
    <p:sldId id="280" r:id="rId17"/>
    <p:sldId id="281" r:id="rId18"/>
    <p:sldId id="282" r:id="rId19"/>
    <p:sldId id="284" r:id="rId20"/>
    <p:sldId id="285" r:id="rId21"/>
    <p:sldId id="278" r:id="rId22"/>
    <p:sldId id="270" r:id="rId23"/>
    <p:sldId id="28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56D54A-AEF0-4694-B39B-8E33435E7C35}" v="18" dt="2026-02-16T02:18:24.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78" d="100"/>
          <a:sy n="78" d="100"/>
        </p:scale>
        <p:origin x="1622"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FA SHAKKIR" userId="f62be8ebcd01d2c5" providerId="LiveId" clId="{426187BB-FA71-4934-AD60-370FFFF4AE93}"/>
    <pc:docChg chg="undo custSel addSld modSld">
      <pc:chgData name="WAFA SHAKKIR" userId="f62be8ebcd01d2c5" providerId="LiveId" clId="{426187BB-FA71-4934-AD60-370FFFF4AE93}" dt="2026-02-16T05:41:15.074" v="1935" actId="113"/>
      <pc:docMkLst>
        <pc:docMk/>
      </pc:docMkLst>
      <pc:sldChg chg="modSp mod">
        <pc:chgData name="WAFA SHAKKIR" userId="f62be8ebcd01d2c5" providerId="LiveId" clId="{426187BB-FA71-4934-AD60-370FFFF4AE93}" dt="2026-02-16T05:39:11.949" v="1933" actId="20577"/>
        <pc:sldMkLst>
          <pc:docMk/>
          <pc:sldMk cId="0" sldId="256"/>
        </pc:sldMkLst>
        <pc:spChg chg="mod">
          <ac:chgData name="WAFA SHAKKIR" userId="f62be8ebcd01d2c5" providerId="LiveId" clId="{426187BB-FA71-4934-AD60-370FFFF4AE93}" dt="2026-02-16T05:39:11.949" v="1933" actId="20577"/>
          <ac:spMkLst>
            <pc:docMk/>
            <pc:sldMk cId="0" sldId="256"/>
            <ac:spMk id="2" creationId="{00000000-0000-0000-0000-000000000000}"/>
          </ac:spMkLst>
        </pc:spChg>
        <pc:spChg chg="mod">
          <ac:chgData name="WAFA SHAKKIR" userId="f62be8ebcd01d2c5" providerId="LiveId" clId="{426187BB-FA71-4934-AD60-370FFFF4AE93}" dt="2026-02-16T02:20:32.637" v="1901" actId="1076"/>
          <ac:spMkLst>
            <pc:docMk/>
            <pc:sldMk cId="0" sldId="256"/>
            <ac:spMk id="3" creationId="{00000000-0000-0000-0000-000000000000}"/>
          </ac:spMkLst>
        </pc:spChg>
      </pc:sldChg>
      <pc:sldChg chg="addSp modSp mod">
        <pc:chgData name="WAFA SHAKKIR" userId="f62be8ebcd01d2c5" providerId="LiveId" clId="{426187BB-FA71-4934-AD60-370FFFF4AE93}" dt="2026-02-16T02:14:51.693" v="1832" actId="27636"/>
        <pc:sldMkLst>
          <pc:docMk/>
          <pc:sldMk cId="0" sldId="257"/>
        </pc:sldMkLst>
        <pc:spChg chg="mod">
          <ac:chgData name="WAFA SHAKKIR" userId="f62be8ebcd01d2c5" providerId="LiveId" clId="{426187BB-FA71-4934-AD60-370FFFF4AE93}" dt="2026-02-16T02:06:17.409" v="1736" actId="14100"/>
          <ac:spMkLst>
            <pc:docMk/>
            <pc:sldMk cId="0" sldId="257"/>
            <ac:spMk id="2" creationId="{00000000-0000-0000-0000-000000000000}"/>
          </ac:spMkLst>
        </pc:spChg>
        <pc:spChg chg="mod">
          <ac:chgData name="WAFA SHAKKIR" userId="f62be8ebcd01d2c5" providerId="LiveId" clId="{426187BB-FA71-4934-AD60-370FFFF4AE93}" dt="2026-02-16T02:14:51.693" v="1832" actId="27636"/>
          <ac:spMkLst>
            <pc:docMk/>
            <pc:sldMk cId="0" sldId="257"/>
            <ac:spMk id="3" creationId="{00000000-0000-0000-0000-000000000000}"/>
          </ac:spMkLst>
        </pc:spChg>
        <pc:spChg chg="add">
          <ac:chgData name="WAFA SHAKKIR" userId="f62be8ebcd01d2c5" providerId="LiveId" clId="{426187BB-FA71-4934-AD60-370FFFF4AE93}" dt="2026-02-16T02:05:38.196" v="1733"/>
          <ac:spMkLst>
            <pc:docMk/>
            <pc:sldMk cId="0" sldId="257"/>
            <ac:spMk id="4" creationId="{1690FDB0-5C17-4DBA-51B1-ED2B36135703}"/>
          </ac:spMkLst>
        </pc:spChg>
        <pc:spChg chg="add">
          <ac:chgData name="WAFA SHAKKIR" userId="f62be8ebcd01d2c5" providerId="LiveId" clId="{426187BB-FA71-4934-AD60-370FFFF4AE93}" dt="2026-02-16T02:05:48.710" v="1734"/>
          <ac:spMkLst>
            <pc:docMk/>
            <pc:sldMk cId="0" sldId="257"/>
            <ac:spMk id="5" creationId="{42BBC588-31F2-C1E4-4769-AE154749C528}"/>
          </ac:spMkLst>
        </pc:spChg>
        <pc:spChg chg="add">
          <ac:chgData name="WAFA SHAKKIR" userId="f62be8ebcd01d2c5" providerId="LiveId" clId="{426187BB-FA71-4934-AD60-370FFFF4AE93}" dt="2026-02-16T02:06:25.094" v="1738"/>
          <ac:spMkLst>
            <pc:docMk/>
            <pc:sldMk cId="0" sldId="257"/>
            <ac:spMk id="6" creationId="{AE99E99E-5A39-2BDB-6208-6CAAB3BCDEC6}"/>
          </ac:spMkLst>
        </pc:spChg>
        <pc:spChg chg="add">
          <ac:chgData name="WAFA SHAKKIR" userId="f62be8ebcd01d2c5" providerId="LiveId" clId="{426187BB-FA71-4934-AD60-370FFFF4AE93}" dt="2026-02-16T02:07:13.478" v="1741"/>
          <ac:spMkLst>
            <pc:docMk/>
            <pc:sldMk cId="0" sldId="257"/>
            <ac:spMk id="7" creationId="{AD86E904-176F-2362-99B8-8DC326B7866C}"/>
          </ac:spMkLst>
        </pc:spChg>
      </pc:sldChg>
      <pc:sldChg chg="modSp mod">
        <pc:chgData name="WAFA SHAKKIR" userId="f62be8ebcd01d2c5" providerId="LiveId" clId="{426187BB-FA71-4934-AD60-370FFFF4AE93}" dt="2026-02-16T01:58:13.735" v="1688" actId="403"/>
        <pc:sldMkLst>
          <pc:docMk/>
          <pc:sldMk cId="0" sldId="258"/>
        </pc:sldMkLst>
        <pc:spChg chg="mod">
          <ac:chgData name="WAFA SHAKKIR" userId="f62be8ebcd01d2c5" providerId="LiveId" clId="{426187BB-FA71-4934-AD60-370FFFF4AE93}" dt="2026-02-16T01:58:13.735" v="1688" actId="403"/>
          <ac:spMkLst>
            <pc:docMk/>
            <pc:sldMk cId="0" sldId="258"/>
            <ac:spMk id="2" creationId="{00000000-0000-0000-0000-000000000000}"/>
          </ac:spMkLst>
        </pc:spChg>
        <pc:spChg chg="mod">
          <ac:chgData name="WAFA SHAKKIR" userId="f62be8ebcd01d2c5" providerId="LiveId" clId="{426187BB-FA71-4934-AD60-370FFFF4AE93}" dt="2026-02-16T01:56:54.330" v="1677" actId="255"/>
          <ac:spMkLst>
            <pc:docMk/>
            <pc:sldMk cId="0" sldId="258"/>
            <ac:spMk id="3" creationId="{00000000-0000-0000-0000-000000000000}"/>
          </ac:spMkLst>
        </pc:spChg>
      </pc:sldChg>
      <pc:sldChg chg="modSp mod">
        <pc:chgData name="WAFA SHAKKIR" userId="f62be8ebcd01d2c5" providerId="LiveId" clId="{426187BB-FA71-4934-AD60-370FFFF4AE93}" dt="2026-02-16T01:18:48.703" v="12" actId="14100"/>
        <pc:sldMkLst>
          <pc:docMk/>
          <pc:sldMk cId="0" sldId="260"/>
        </pc:sldMkLst>
        <pc:spChg chg="mod">
          <ac:chgData name="WAFA SHAKKIR" userId="f62be8ebcd01d2c5" providerId="LiveId" clId="{426187BB-FA71-4934-AD60-370FFFF4AE93}" dt="2026-02-16T01:18:39.201" v="11" actId="1076"/>
          <ac:spMkLst>
            <pc:docMk/>
            <pc:sldMk cId="0" sldId="260"/>
            <ac:spMk id="2" creationId="{00000000-0000-0000-0000-000000000000}"/>
          </ac:spMkLst>
        </pc:spChg>
        <pc:spChg chg="mod">
          <ac:chgData name="WAFA SHAKKIR" userId="f62be8ebcd01d2c5" providerId="LiveId" clId="{426187BB-FA71-4934-AD60-370FFFF4AE93}" dt="2026-02-16T01:18:48.703" v="12" actId="14100"/>
          <ac:spMkLst>
            <pc:docMk/>
            <pc:sldMk cId="0" sldId="260"/>
            <ac:spMk id="3" creationId="{00000000-0000-0000-0000-000000000000}"/>
          </ac:spMkLst>
        </pc:spChg>
      </pc:sldChg>
      <pc:sldChg chg="modSp mod">
        <pc:chgData name="WAFA SHAKKIR" userId="f62be8ebcd01d2c5" providerId="LiveId" clId="{426187BB-FA71-4934-AD60-370FFFF4AE93}" dt="2026-02-16T01:18:12.530" v="9" actId="14100"/>
        <pc:sldMkLst>
          <pc:docMk/>
          <pc:sldMk cId="4242411429" sldId="262"/>
        </pc:sldMkLst>
        <pc:spChg chg="mod">
          <ac:chgData name="WAFA SHAKKIR" userId="f62be8ebcd01d2c5" providerId="LiveId" clId="{426187BB-FA71-4934-AD60-370FFFF4AE93}" dt="2026-02-16T01:18:12.530" v="9" actId="14100"/>
          <ac:spMkLst>
            <pc:docMk/>
            <pc:sldMk cId="4242411429" sldId="262"/>
            <ac:spMk id="3" creationId="{0C5B7912-EE44-ACC4-979C-1BFBAA027D8D}"/>
          </ac:spMkLst>
        </pc:spChg>
      </pc:sldChg>
      <pc:sldChg chg="modSp mod">
        <pc:chgData name="WAFA SHAKKIR" userId="f62be8ebcd01d2c5" providerId="LiveId" clId="{426187BB-FA71-4934-AD60-370FFFF4AE93}" dt="2026-02-16T05:41:15.074" v="1935" actId="113"/>
        <pc:sldMkLst>
          <pc:docMk/>
          <pc:sldMk cId="3730139413" sldId="265"/>
        </pc:sldMkLst>
        <pc:spChg chg="mod">
          <ac:chgData name="WAFA SHAKKIR" userId="f62be8ebcd01d2c5" providerId="LiveId" clId="{426187BB-FA71-4934-AD60-370FFFF4AE93}" dt="2026-02-16T05:41:15.074" v="1935" actId="113"/>
          <ac:spMkLst>
            <pc:docMk/>
            <pc:sldMk cId="3730139413" sldId="265"/>
            <ac:spMk id="3" creationId="{AFBA9628-FC25-2490-5AFB-D6AD6AE30C5D}"/>
          </ac:spMkLst>
        </pc:spChg>
      </pc:sldChg>
      <pc:sldChg chg="modSp mod">
        <pc:chgData name="WAFA SHAKKIR" userId="f62be8ebcd01d2c5" providerId="LiveId" clId="{426187BB-FA71-4934-AD60-370FFFF4AE93}" dt="2026-02-16T01:20:17.286" v="22" actId="20577"/>
        <pc:sldMkLst>
          <pc:docMk/>
          <pc:sldMk cId="1593243618" sldId="269"/>
        </pc:sldMkLst>
        <pc:spChg chg="mod">
          <ac:chgData name="WAFA SHAKKIR" userId="f62be8ebcd01d2c5" providerId="LiveId" clId="{426187BB-FA71-4934-AD60-370FFFF4AE93}" dt="2026-02-16T01:20:17.286" v="22" actId="20577"/>
          <ac:spMkLst>
            <pc:docMk/>
            <pc:sldMk cId="1593243618" sldId="269"/>
            <ac:spMk id="3" creationId="{B0D90A2F-52DD-5C08-A8EF-3A347EA84D21}"/>
          </ac:spMkLst>
        </pc:spChg>
      </pc:sldChg>
      <pc:sldChg chg="modSp mod">
        <pc:chgData name="WAFA SHAKKIR" userId="f62be8ebcd01d2c5" providerId="LiveId" clId="{426187BB-FA71-4934-AD60-370FFFF4AE93}" dt="2026-02-16T02:22:19.572" v="1909" actId="20577"/>
        <pc:sldMkLst>
          <pc:docMk/>
          <pc:sldMk cId="2022249327" sldId="270"/>
        </pc:sldMkLst>
        <pc:spChg chg="mod">
          <ac:chgData name="WAFA SHAKKIR" userId="f62be8ebcd01d2c5" providerId="LiveId" clId="{426187BB-FA71-4934-AD60-370FFFF4AE93}" dt="2026-02-16T02:22:19.572" v="1909" actId="20577"/>
          <ac:spMkLst>
            <pc:docMk/>
            <pc:sldMk cId="2022249327" sldId="270"/>
            <ac:spMk id="3" creationId="{527068D9-105C-D5C3-81B2-9DEA51DE869A}"/>
          </ac:spMkLst>
        </pc:spChg>
      </pc:sldChg>
      <pc:sldChg chg="modSp mod">
        <pc:chgData name="WAFA SHAKKIR" userId="f62be8ebcd01d2c5" providerId="LiveId" clId="{426187BB-FA71-4934-AD60-370FFFF4AE93}" dt="2026-02-16T01:17:28.664" v="6" actId="1076"/>
        <pc:sldMkLst>
          <pc:docMk/>
          <pc:sldMk cId="1254230742" sldId="271"/>
        </pc:sldMkLst>
        <pc:spChg chg="mod">
          <ac:chgData name="WAFA SHAKKIR" userId="f62be8ebcd01d2c5" providerId="LiveId" clId="{426187BB-FA71-4934-AD60-370FFFF4AE93}" dt="2026-02-16T01:17:28.664" v="6" actId="1076"/>
          <ac:spMkLst>
            <pc:docMk/>
            <pc:sldMk cId="1254230742" sldId="271"/>
            <ac:spMk id="3" creationId="{57844610-964D-C687-02ED-EC0257A83A23}"/>
          </ac:spMkLst>
        </pc:spChg>
      </pc:sldChg>
      <pc:sldChg chg="modSp mod">
        <pc:chgData name="WAFA SHAKKIR" userId="f62be8ebcd01d2c5" providerId="LiveId" clId="{426187BB-FA71-4934-AD60-370FFFF4AE93}" dt="2026-02-16T01:18:23.346" v="10" actId="14100"/>
        <pc:sldMkLst>
          <pc:docMk/>
          <pc:sldMk cId="3507723069" sldId="272"/>
        </pc:sldMkLst>
        <pc:spChg chg="mod">
          <ac:chgData name="WAFA SHAKKIR" userId="f62be8ebcd01d2c5" providerId="LiveId" clId="{426187BB-FA71-4934-AD60-370FFFF4AE93}" dt="2026-02-16T01:18:23.346" v="10" actId="14100"/>
          <ac:spMkLst>
            <pc:docMk/>
            <pc:sldMk cId="3507723069" sldId="272"/>
            <ac:spMk id="3" creationId="{8983550E-1910-9593-06DE-B11FDB056110}"/>
          </ac:spMkLst>
        </pc:spChg>
      </pc:sldChg>
      <pc:sldChg chg="modSp mod">
        <pc:chgData name="WAFA SHAKKIR" userId="f62be8ebcd01d2c5" providerId="LiveId" clId="{426187BB-FA71-4934-AD60-370FFFF4AE93}" dt="2026-02-16T01:19:31.396" v="15" actId="1076"/>
        <pc:sldMkLst>
          <pc:docMk/>
          <pc:sldMk cId="2132441738" sldId="274"/>
        </pc:sldMkLst>
        <pc:spChg chg="mod">
          <ac:chgData name="WAFA SHAKKIR" userId="f62be8ebcd01d2c5" providerId="LiveId" clId="{426187BB-FA71-4934-AD60-370FFFF4AE93}" dt="2026-02-16T01:19:31.396" v="15" actId="1076"/>
          <ac:spMkLst>
            <pc:docMk/>
            <pc:sldMk cId="2132441738" sldId="274"/>
            <ac:spMk id="2" creationId="{F0C48D2F-3426-5419-1250-2D9575CB5EEF}"/>
          </ac:spMkLst>
        </pc:spChg>
        <pc:spChg chg="mod">
          <ac:chgData name="WAFA SHAKKIR" userId="f62be8ebcd01d2c5" providerId="LiveId" clId="{426187BB-FA71-4934-AD60-370FFFF4AE93}" dt="2026-02-16T01:19:10.303" v="14" actId="14100"/>
          <ac:spMkLst>
            <pc:docMk/>
            <pc:sldMk cId="2132441738" sldId="274"/>
            <ac:spMk id="3" creationId="{F7B03F41-5B71-8CAF-BF79-587AD1952F8A}"/>
          </ac:spMkLst>
        </pc:spChg>
      </pc:sldChg>
      <pc:sldChg chg="modSp">
        <pc:chgData name="WAFA SHAKKIR" userId="f62be8ebcd01d2c5" providerId="LiveId" clId="{426187BB-FA71-4934-AD60-370FFFF4AE93}" dt="2026-02-16T01:48:41.915" v="1293" actId="14100"/>
        <pc:sldMkLst>
          <pc:docMk/>
          <pc:sldMk cId="4148534582" sldId="278"/>
        </pc:sldMkLst>
        <pc:spChg chg="mod">
          <ac:chgData name="WAFA SHAKKIR" userId="f62be8ebcd01d2c5" providerId="LiveId" clId="{426187BB-FA71-4934-AD60-370FFFF4AE93}" dt="2026-02-16T01:48:41.915" v="1293" actId="14100"/>
          <ac:spMkLst>
            <pc:docMk/>
            <pc:sldMk cId="4148534582" sldId="278"/>
            <ac:spMk id="4" creationId="{1F181C95-9E65-CE9A-D568-7C953F715EE0}"/>
          </ac:spMkLst>
        </pc:spChg>
      </pc:sldChg>
      <pc:sldChg chg="modSp mod">
        <pc:chgData name="WAFA SHAKKIR" userId="f62be8ebcd01d2c5" providerId="LiveId" clId="{426187BB-FA71-4934-AD60-370FFFF4AE93}" dt="2026-02-16T01:27:34.542" v="365" actId="14100"/>
        <pc:sldMkLst>
          <pc:docMk/>
          <pc:sldMk cId="2188986888" sldId="280"/>
        </pc:sldMkLst>
        <pc:spChg chg="mod">
          <ac:chgData name="WAFA SHAKKIR" userId="f62be8ebcd01d2c5" providerId="LiveId" clId="{426187BB-FA71-4934-AD60-370FFFF4AE93}" dt="2026-02-16T01:27:34.542" v="365" actId="14100"/>
          <ac:spMkLst>
            <pc:docMk/>
            <pc:sldMk cId="2188986888" sldId="280"/>
            <ac:spMk id="3" creationId="{758EE554-2903-8A01-AFD2-21DBD4AAAF5B}"/>
          </ac:spMkLst>
        </pc:spChg>
      </pc:sldChg>
      <pc:sldChg chg="modSp mod">
        <pc:chgData name="WAFA SHAKKIR" userId="f62be8ebcd01d2c5" providerId="LiveId" clId="{426187BB-FA71-4934-AD60-370FFFF4AE93}" dt="2026-02-16T01:30:41.314" v="487" actId="14100"/>
        <pc:sldMkLst>
          <pc:docMk/>
          <pc:sldMk cId="1376795198" sldId="281"/>
        </pc:sldMkLst>
        <pc:spChg chg="mod">
          <ac:chgData name="WAFA SHAKKIR" userId="f62be8ebcd01d2c5" providerId="LiveId" clId="{426187BB-FA71-4934-AD60-370FFFF4AE93}" dt="2026-02-16T01:30:41.314" v="487" actId="14100"/>
          <ac:spMkLst>
            <pc:docMk/>
            <pc:sldMk cId="1376795198" sldId="281"/>
            <ac:spMk id="3" creationId="{9DBFDD46-73F9-3BE4-A178-1C56F72B3C52}"/>
          </ac:spMkLst>
        </pc:spChg>
      </pc:sldChg>
      <pc:sldChg chg="modSp mod">
        <pc:chgData name="WAFA SHAKKIR" userId="f62be8ebcd01d2c5" providerId="LiveId" clId="{426187BB-FA71-4934-AD60-370FFFF4AE93}" dt="2026-02-16T01:39:36.316" v="884" actId="14100"/>
        <pc:sldMkLst>
          <pc:docMk/>
          <pc:sldMk cId="1440966623" sldId="282"/>
        </pc:sldMkLst>
        <pc:spChg chg="mod">
          <ac:chgData name="WAFA SHAKKIR" userId="f62be8ebcd01d2c5" providerId="LiveId" clId="{426187BB-FA71-4934-AD60-370FFFF4AE93}" dt="2026-02-16T01:39:36.316" v="884" actId="14100"/>
          <ac:spMkLst>
            <pc:docMk/>
            <pc:sldMk cId="1440966623" sldId="282"/>
            <ac:spMk id="3" creationId="{F3EEE196-7371-E2EF-E160-715DA07989E4}"/>
          </ac:spMkLst>
        </pc:spChg>
      </pc:sldChg>
      <pc:sldChg chg="modSp mod">
        <pc:chgData name="WAFA SHAKKIR" userId="f62be8ebcd01d2c5" providerId="LiveId" clId="{426187BB-FA71-4934-AD60-370FFFF4AE93}" dt="2026-02-16T01:42:52.862" v="1034" actId="14100"/>
        <pc:sldMkLst>
          <pc:docMk/>
          <pc:sldMk cId="3633545874" sldId="284"/>
        </pc:sldMkLst>
        <pc:spChg chg="mod">
          <ac:chgData name="WAFA SHAKKIR" userId="f62be8ebcd01d2c5" providerId="LiveId" clId="{426187BB-FA71-4934-AD60-370FFFF4AE93}" dt="2026-02-16T01:41:19.635" v="927" actId="20577"/>
          <ac:spMkLst>
            <pc:docMk/>
            <pc:sldMk cId="3633545874" sldId="284"/>
            <ac:spMk id="2" creationId="{99887578-2C82-0D15-0B2A-75C8153A74BA}"/>
          </ac:spMkLst>
        </pc:spChg>
        <pc:spChg chg="mod">
          <ac:chgData name="WAFA SHAKKIR" userId="f62be8ebcd01d2c5" providerId="LiveId" clId="{426187BB-FA71-4934-AD60-370FFFF4AE93}" dt="2026-02-16T01:42:52.862" v="1034" actId="14100"/>
          <ac:spMkLst>
            <pc:docMk/>
            <pc:sldMk cId="3633545874" sldId="284"/>
            <ac:spMk id="3" creationId="{DDB08D18-2D89-0F16-BCC0-319286439FA2}"/>
          </ac:spMkLst>
        </pc:spChg>
      </pc:sldChg>
      <pc:sldChg chg="modSp mod">
        <pc:chgData name="WAFA SHAKKIR" userId="f62be8ebcd01d2c5" providerId="LiveId" clId="{426187BB-FA71-4934-AD60-370FFFF4AE93}" dt="2026-02-16T01:48:24.653" v="1290" actId="14100"/>
        <pc:sldMkLst>
          <pc:docMk/>
          <pc:sldMk cId="3162988172" sldId="285"/>
        </pc:sldMkLst>
        <pc:spChg chg="mod">
          <ac:chgData name="WAFA SHAKKIR" userId="f62be8ebcd01d2c5" providerId="LiveId" clId="{426187BB-FA71-4934-AD60-370FFFF4AE93}" dt="2026-02-16T01:48:24.653" v="1290" actId="14100"/>
          <ac:spMkLst>
            <pc:docMk/>
            <pc:sldMk cId="3162988172" sldId="285"/>
            <ac:spMk id="3" creationId="{375173B9-B779-F466-09DF-BBD79B6B78B8}"/>
          </ac:spMkLst>
        </pc:spChg>
      </pc:sldChg>
      <pc:sldChg chg="modSp mod">
        <pc:chgData name="WAFA SHAKKIR" userId="f62be8ebcd01d2c5" providerId="LiveId" clId="{426187BB-FA71-4934-AD60-370FFFF4AE93}" dt="2026-02-16T01:19:40.949" v="16" actId="14100"/>
        <pc:sldMkLst>
          <pc:docMk/>
          <pc:sldMk cId="609313728" sldId="286"/>
        </pc:sldMkLst>
        <pc:spChg chg="mod">
          <ac:chgData name="WAFA SHAKKIR" userId="f62be8ebcd01d2c5" providerId="LiveId" clId="{426187BB-FA71-4934-AD60-370FFFF4AE93}" dt="2026-02-16T01:19:40.949" v="16" actId="14100"/>
          <ac:spMkLst>
            <pc:docMk/>
            <pc:sldMk cId="609313728" sldId="286"/>
            <ac:spMk id="3" creationId="{E545FD53-EABF-EA49-442B-AC387FF0687A}"/>
          </ac:spMkLst>
        </pc:spChg>
      </pc:sldChg>
      <pc:sldChg chg="modSp new mod">
        <pc:chgData name="WAFA SHAKKIR" userId="f62be8ebcd01d2c5" providerId="LiveId" clId="{426187BB-FA71-4934-AD60-370FFFF4AE93}" dt="2026-02-16T01:56:38.007" v="1675" actId="14100"/>
        <pc:sldMkLst>
          <pc:docMk/>
          <pc:sldMk cId="751877326" sldId="288"/>
        </pc:sldMkLst>
        <pc:spChg chg="mod">
          <ac:chgData name="WAFA SHAKKIR" userId="f62be8ebcd01d2c5" providerId="LiveId" clId="{426187BB-FA71-4934-AD60-370FFFF4AE93}" dt="2026-02-16T01:50:44.985" v="1320" actId="113"/>
          <ac:spMkLst>
            <pc:docMk/>
            <pc:sldMk cId="751877326" sldId="288"/>
            <ac:spMk id="2" creationId="{65ACE06A-7E2F-BD7A-34CF-52BF8708D1BD}"/>
          </ac:spMkLst>
        </pc:spChg>
        <pc:spChg chg="mod">
          <ac:chgData name="WAFA SHAKKIR" userId="f62be8ebcd01d2c5" providerId="LiveId" clId="{426187BB-FA71-4934-AD60-370FFFF4AE93}" dt="2026-02-16T01:56:38.007" v="1675" actId="14100"/>
          <ac:spMkLst>
            <pc:docMk/>
            <pc:sldMk cId="751877326" sldId="288"/>
            <ac:spMk id="3" creationId="{844CCAB5-176E-E4B2-7864-79B076C003DF}"/>
          </ac:spMkLst>
        </pc:spChg>
      </pc:sldChg>
      <pc:sldChg chg="addSp delSp modSp new mod">
        <pc:chgData name="WAFA SHAKKIR" userId="f62be8ebcd01d2c5" providerId="LiveId" clId="{426187BB-FA71-4934-AD60-370FFFF4AE93}" dt="2026-02-16T02:18:56.066" v="1893" actId="120"/>
        <pc:sldMkLst>
          <pc:docMk/>
          <pc:sldMk cId="2804181282" sldId="289"/>
        </pc:sldMkLst>
        <pc:spChg chg="mod">
          <ac:chgData name="WAFA SHAKKIR" userId="f62be8ebcd01d2c5" providerId="LiveId" clId="{426187BB-FA71-4934-AD60-370FFFF4AE93}" dt="2026-02-16T02:18:56.066" v="1893" actId="120"/>
          <ac:spMkLst>
            <pc:docMk/>
            <pc:sldMk cId="2804181282" sldId="289"/>
            <ac:spMk id="2" creationId="{093677F7-2086-8AE6-0B0A-111C330307F5}"/>
          </ac:spMkLst>
        </pc:spChg>
        <pc:spChg chg="del">
          <ac:chgData name="WAFA SHAKKIR" userId="f62be8ebcd01d2c5" providerId="LiveId" clId="{426187BB-FA71-4934-AD60-370FFFF4AE93}" dt="2026-02-16T02:15:49.965" v="1834"/>
          <ac:spMkLst>
            <pc:docMk/>
            <pc:sldMk cId="2804181282" sldId="289"/>
            <ac:spMk id="3" creationId="{663055C1-0A85-693C-99BF-5D00429A998E}"/>
          </ac:spMkLst>
        </pc:spChg>
        <pc:spChg chg="add mod">
          <ac:chgData name="WAFA SHAKKIR" userId="f62be8ebcd01d2c5" providerId="LiveId" clId="{426187BB-FA71-4934-AD60-370FFFF4AE93}" dt="2026-02-16T02:18:09.464" v="1852" actId="12"/>
          <ac:spMkLst>
            <pc:docMk/>
            <pc:sldMk cId="2804181282" sldId="289"/>
            <ac:spMk id="4" creationId="{E2B8B4B1-05B1-DC49-7EC2-4AFA735B76F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0329" y="1778819"/>
            <a:ext cx="7772400" cy="1650181"/>
          </a:xfrm>
        </p:spPr>
        <p:txBody>
          <a:bodyPr>
            <a:normAutofit/>
          </a:bodyPr>
          <a:lstStyle/>
          <a:p>
            <a:r>
              <a:rPr lang="en-US" sz="6000" dirty="0">
                <a:latin typeface="Algerian" panose="04020705040A02060702" pitchFamily="82" charset="0"/>
              </a:rPr>
              <a:t>PALEOVISION</a:t>
            </a:r>
            <a:endParaRPr sz="6000" dirty="0">
              <a:latin typeface="Algerian" panose="04020705040A02060702" pitchFamily="82" charset="0"/>
            </a:endParaRPr>
          </a:p>
        </p:txBody>
      </p:sp>
      <p:sp>
        <p:nvSpPr>
          <p:cNvPr id="3" name="Subtitle 2"/>
          <p:cNvSpPr>
            <a:spLocks noGrp="1"/>
          </p:cNvSpPr>
          <p:nvPr>
            <p:ph type="subTitle" idx="1"/>
          </p:nvPr>
        </p:nvSpPr>
        <p:spPr>
          <a:xfrm>
            <a:off x="3677265" y="4771922"/>
            <a:ext cx="5184058" cy="943897"/>
          </a:xfrm>
        </p:spPr>
        <p:txBody>
          <a:bodyPr>
            <a:normAutofit/>
          </a:bodyPr>
          <a:lstStyle/>
          <a:p>
            <a:pPr algn="r"/>
            <a:r>
              <a:rPr lang="en-IN" sz="2400" dirty="0">
                <a:solidFill>
                  <a:schemeClr val="tx1">
                    <a:lumMod val="75000"/>
                    <a:lumOff val="25000"/>
                  </a:schemeClr>
                </a:solidFill>
              </a:rPr>
              <a:t>MEACHINE LEARNING PRESENTATION BY</a:t>
            </a:r>
          </a:p>
          <a:p>
            <a:pPr algn="r"/>
            <a:r>
              <a:rPr lang="en-IN" sz="2400" dirty="0">
                <a:solidFill>
                  <a:schemeClr val="tx1">
                    <a:lumMod val="75000"/>
                    <a:lumOff val="25000"/>
                  </a:schemeClr>
                </a:solidFill>
              </a:rPr>
              <a:t>WAFA SHAKKIR</a:t>
            </a:r>
            <a:endParaRPr sz="2400" dirty="0">
              <a:solidFill>
                <a:schemeClr val="tx1">
                  <a:lumMod val="75000"/>
                  <a:lumOff val="2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5742"/>
          </a:xfrm>
        </p:spPr>
        <p:txBody>
          <a:bodyPr/>
          <a:lstStyle/>
          <a:p>
            <a:pPr algn="l"/>
            <a:r>
              <a:rPr b="1" dirty="0"/>
              <a:t>D</a:t>
            </a:r>
            <a:r>
              <a:rPr lang="en-IN" b="1" dirty="0"/>
              <a:t>ATASET OVERVIEW</a:t>
            </a:r>
            <a:endParaRPr b="1" dirty="0"/>
          </a:p>
        </p:txBody>
      </p:sp>
      <p:sp>
        <p:nvSpPr>
          <p:cNvPr id="3" name="Content Placeholder 2"/>
          <p:cNvSpPr>
            <a:spLocks noGrp="1"/>
          </p:cNvSpPr>
          <p:nvPr>
            <p:ph idx="1"/>
          </p:nvPr>
        </p:nvSpPr>
        <p:spPr>
          <a:xfrm>
            <a:off x="575186" y="1020096"/>
            <a:ext cx="8229600" cy="4525963"/>
          </a:xfrm>
        </p:spPr>
        <p:txBody>
          <a:bodyPr>
            <a:normAutofit/>
          </a:bodyPr>
          <a:lstStyle/>
          <a:p>
            <a:pPr marL="0" indent="0" algn="just">
              <a:buNone/>
            </a:pPr>
            <a:r>
              <a:rPr lang="en-IN" sz="2200" dirty="0"/>
              <a:t>Dataset Name: Trilobite Fossil Dataset</a:t>
            </a:r>
          </a:p>
          <a:p>
            <a:pPr marL="0" indent="0" algn="just">
              <a:buNone/>
            </a:pPr>
            <a:r>
              <a:rPr lang="en-IN" sz="2200" dirty="0"/>
              <a:t>Number of Records: ( 2900+ rows )</a:t>
            </a:r>
          </a:p>
          <a:p>
            <a:pPr marL="0" indent="0">
              <a:buNone/>
            </a:pPr>
            <a:r>
              <a:rPr lang="en-IN" sz="2200" dirty="0"/>
              <a:t>Number of Features: (25+ columns)</a:t>
            </a:r>
          </a:p>
          <a:p>
            <a:pPr marL="0" indent="0">
              <a:buNone/>
            </a:pPr>
            <a:r>
              <a:rPr lang="en-IN" sz="2200" dirty="0"/>
              <a:t>Features include:</a:t>
            </a:r>
          </a:p>
          <a:p>
            <a:r>
              <a:rPr lang="en-IN" sz="2200" dirty="0"/>
              <a:t>Genus</a:t>
            </a:r>
          </a:p>
          <a:p>
            <a:r>
              <a:rPr lang="en-IN" sz="2200" dirty="0"/>
              <a:t>Family</a:t>
            </a:r>
          </a:p>
          <a:p>
            <a:r>
              <a:rPr lang="en-IN" sz="2200" dirty="0"/>
              <a:t>Order</a:t>
            </a:r>
          </a:p>
          <a:p>
            <a:r>
              <a:rPr lang="en-IN" sz="2200" dirty="0"/>
              <a:t>Environment</a:t>
            </a:r>
          </a:p>
          <a:p>
            <a:r>
              <a:rPr lang="en-IN" sz="2200" dirty="0"/>
              <a:t>Lithology</a:t>
            </a:r>
          </a:p>
          <a:p>
            <a:r>
              <a:rPr lang="en-IN" sz="2200" dirty="0"/>
              <a:t>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CE06A-7E2F-BD7A-34CF-52BF8708D1BD}"/>
              </a:ext>
            </a:extLst>
          </p:cNvPr>
          <p:cNvSpPr>
            <a:spLocks noGrp="1"/>
          </p:cNvSpPr>
          <p:nvPr>
            <p:ph type="title"/>
          </p:nvPr>
        </p:nvSpPr>
        <p:spPr/>
        <p:txBody>
          <a:bodyPr/>
          <a:lstStyle/>
          <a:p>
            <a:pPr algn="l"/>
            <a:r>
              <a:rPr lang="en-IN" b="1" dirty="0"/>
              <a:t>MEACHINE LEARNING</a:t>
            </a:r>
          </a:p>
        </p:txBody>
      </p:sp>
      <p:sp>
        <p:nvSpPr>
          <p:cNvPr id="3" name="Content Placeholder 2">
            <a:extLst>
              <a:ext uri="{FF2B5EF4-FFF2-40B4-BE49-F238E27FC236}">
                <a16:creationId xmlns:a16="http://schemas.microsoft.com/office/drawing/2014/main" id="{844CCAB5-176E-E4B2-7864-79B076C003DF}"/>
              </a:ext>
            </a:extLst>
          </p:cNvPr>
          <p:cNvSpPr>
            <a:spLocks noGrp="1"/>
          </p:cNvSpPr>
          <p:nvPr>
            <p:ph idx="1"/>
          </p:nvPr>
        </p:nvSpPr>
        <p:spPr>
          <a:xfrm>
            <a:off x="457200" y="1600200"/>
            <a:ext cx="7624916" cy="4525963"/>
          </a:xfrm>
        </p:spPr>
        <p:txBody>
          <a:bodyPr>
            <a:normAutofit/>
          </a:bodyPr>
          <a:lstStyle/>
          <a:p>
            <a:pPr marL="0" indent="0">
              <a:buNone/>
            </a:pPr>
            <a:r>
              <a:rPr lang="en-IN" sz="2200" dirty="0" err="1"/>
              <a:t>Meachine</a:t>
            </a:r>
            <a:r>
              <a:rPr lang="en-IN" sz="2200" dirty="0"/>
              <a:t> learning is the branch of AI that focus on built in system . That can learn from data and improve their performance without being </a:t>
            </a:r>
            <a:r>
              <a:rPr lang="en-IN" sz="2200" dirty="0" err="1"/>
              <a:t>explicity</a:t>
            </a:r>
            <a:r>
              <a:rPr lang="en-IN" sz="2200" dirty="0"/>
              <a:t> programmed. Insert of given computer step by step instruction you provide, it with data and algorithm that allow. </a:t>
            </a:r>
          </a:p>
          <a:p>
            <a:pPr marL="0" indent="0">
              <a:buNone/>
            </a:pPr>
            <a:r>
              <a:rPr lang="en-IN" sz="2200" dirty="0"/>
              <a:t>It to identify patterns, make predictions or take decisions.</a:t>
            </a:r>
          </a:p>
        </p:txBody>
      </p:sp>
    </p:spTree>
    <p:extLst>
      <p:ext uri="{BB962C8B-B14F-4D97-AF65-F5344CB8AC3E}">
        <p14:creationId xmlns:p14="http://schemas.microsoft.com/office/powerpoint/2010/main" val="751877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67"/>
            <a:ext cx="8229600" cy="1143000"/>
          </a:xfrm>
        </p:spPr>
        <p:txBody>
          <a:bodyPr>
            <a:normAutofit/>
          </a:bodyPr>
          <a:lstStyle/>
          <a:p>
            <a:pPr algn="l"/>
            <a:r>
              <a:rPr sz="4000" b="1" dirty="0"/>
              <a:t>ML</a:t>
            </a:r>
            <a:r>
              <a:rPr sz="3600" b="1" dirty="0"/>
              <a:t> </a:t>
            </a:r>
            <a:r>
              <a:rPr sz="4000" b="1" dirty="0"/>
              <a:t>P</a:t>
            </a:r>
            <a:r>
              <a:rPr lang="en-IN" sz="4000" b="1" dirty="0"/>
              <a:t>ROBLEM</a:t>
            </a:r>
            <a:r>
              <a:rPr sz="3600" b="1" dirty="0"/>
              <a:t> </a:t>
            </a:r>
            <a:r>
              <a:rPr sz="4000" b="1" dirty="0"/>
              <a:t>T</a:t>
            </a:r>
            <a:r>
              <a:rPr lang="en-IN" sz="4000" b="1" dirty="0"/>
              <a:t>YPE</a:t>
            </a:r>
            <a:endParaRPr sz="3600" b="1" dirty="0"/>
          </a:p>
        </p:txBody>
      </p:sp>
      <p:sp>
        <p:nvSpPr>
          <p:cNvPr id="3" name="Content Placeholder 2"/>
          <p:cNvSpPr>
            <a:spLocks noGrp="1"/>
          </p:cNvSpPr>
          <p:nvPr>
            <p:ph idx="1"/>
          </p:nvPr>
        </p:nvSpPr>
        <p:spPr>
          <a:xfrm>
            <a:off x="457200" y="1166018"/>
            <a:ext cx="7959213" cy="4525963"/>
          </a:xfrm>
        </p:spPr>
        <p:txBody>
          <a:bodyPr>
            <a:normAutofit/>
          </a:bodyPr>
          <a:lstStyle/>
          <a:p>
            <a:pPr algn="just"/>
            <a:r>
              <a:rPr sz="2200" dirty="0"/>
              <a:t>Task: Multi-class Classification</a:t>
            </a:r>
          </a:p>
          <a:p>
            <a:pPr algn="just"/>
            <a:r>
              <a:rPr sz="2200" dirty="0"/>
              <a:t>Predict trilobite species from multiple features</a:t>
            </a:r>
          </a:p>
          <a:p>
            <a:pPr algn="just"/>
            <a:r>
              <a:rPr sz="2200" dirty="0"/>
              <a:t>Dataset has mixed data types: categorical + numeric</a:t>
            </a:r>
          </a:p>
          <a:p>
            <a:endParaRPr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77F7-2086-8AE6-0B0A-111C330307F5}"/>
              </a:ext>
            </a:extLst>
          </p:cNvPr>
          <p:cNvSpPr>
            <a:spLocks noGrp="1"/>
          </p:cNvSpPr>
          <p:nvPr>
            <p:ph type="title"/>
          </p:nvPr>
        </p:nvSpPr>
        <p:spPr/>
        <p:txBody>
          <a:bodyPr>
            <a:normAutofit/>
          </a:bodyPr>
          <a:lstStyle/>
          <a:p>
            <a:pPr algn="l"/>
            <a:r>
              <a:rPr lang="en-IN" b="1" dirty="0"/>
              <a:t>DATA PREPROCESSING</a:t>
            </a:r>
          </a:p>
        </p:txBody>
      </p:sp>
      <p:sp>
        <p:nvSpPr>
          <p:cNvPr id="4" name="Rectangle 1">
            <a:extLst>
              <a:ext uri="{FF2B5EF4-FFF2-40B4-BE49-F238E27FC236}">
                <a16:creationId xmlns:a16="http://schemas.microsoft.com/office/drawing/2014/main" id="{E2B8B4B1-05B1-DC49-7EC2-4AFA735B76FE}"/>
              </a:ext>
            </a:extLst>
          </p:cNvPr>
          <p:cNvSpPr>
            <a:spLocks noGrp="1" noChangeArrowheads="1"/>
          </p:cNvSpPr>
          <p:nvPr>
            <p:ph idx="1"/>
          </p:nvPr>
        </p:nvSpPr>
        <p:spPr bwMode="auto">
          <a:xfrm>
            <a:off x="457200" y="1748453"/>
            <a:ext cx="8229600"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Removed unnecessary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Handled missing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Converted categorical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mj-lt"/>
              </a:rPr>
              <a:t>Split dataset into:</a:t>
            </a:r>
          </a:p>
          <a:p>
            <a:pPr marR="0" lvl="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200" b="0" i="0" u="none" strike="noStrike" cap="none" normalizeH="0" baseline="0" dirty="0">
                <a:ln>
                  <a:noFill/>
                </a:ln>
                <a:solidFill>
                  <a:schemeClr val="tx1"/>
                </a:solidFill>
                <a:effectLst/>
                <a:latin typeface="+mj-lt"/>
              </a:rPr>
              <a:t>Training set (80%)</a:t>
            </a:r>
          </a:p>
          <a:p>
            <a:pPr marR="0" lvl="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200" b="0" i="0" u="none" strike="noStrike" cap="none" normalizeH="0" baseline="0" dirty="0">
                <a:ln>
                  <a:noFill/>
                </a:ln>
                <a:solidFill>
                  <a:schemeClr val="tx1"/>
                </a:solidFill>
                <a:effectLst/>
                <a:latin typeface="+mj-lt"/>
              </a:rPr>
              <a:t>Testing set (20%)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181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496"/>
            <a:ext cx="8229600" cy="939757"/>
          </a:xfrm>
        </p:spPr>
        <p:txBody>
          <a:bodyPr/>
          <a:lstStyle/>
          <a:p>
            <a:pPr algn="l"/>
            <a:r>
              <a:rPr b="1" dirty="0"/>
              <a:t>ML</a:t>
            </a:r>
            <a:r>
              <a:rPr lang="en-IN" b="1" dirty="0"/>
              <a:t> METHODS USED</a:t>
            </a:r>
            <a:endParaRPr b="1" dirty="0"/>
          </a:p>
        </p:txBody>
      </p:sp>
      <p:sp>
        <p:nvSpPr>
          <p:cNvPr id="3" name="Content Placeholder 2"/>
          <p:cNvSpPr>
            <a:spLocks noGrp="1"/>
          </p:cNvSpPr>
          <p:nvPr>
            <p:ph idx="1"/>
          </p:nvPr>
        </p:nvSpPr>
        <p:spPr>
          <a:xfrm>
            <a:off x="589935" y="1062122"/>
            <a:ext cx="8229600" cy="5574771"/>
          </a:xfrm>
        </p:spPr>
        <p:txBody>
          <a:bodyPr>
            <a:normAutofit fontScale="62500" lnSpcReduction="20000"/>
          </a:bodyPr>
          <a:lstStyle/>
          <a:p>
            <a:pPr marL="0" indent="0">
              <a:buNone/>
            </a:pPr>
            <a:r>
              <a:rPr lang="en-IN" b="1" dirty="0"/>
              <a:t>SUPERVISED LEARNING :</a:t>
            </a:r>
          </a:p>
          <a:p>
            <a:r>
              <a:rPr dirty="0"/>
              <a:t>1. </a:t>
            </a:r>
            <a:r>
              <a:rPr lang="en-IN" dirty="0"/>
              <a:t>Linear Regression</a:t>
            </a:r>
          </a:p>
          <a:p>
            <a:r>
              <a:rPr lang="en-IN" dirty="0"/>
              <a:t>2. </a:t>
            </a:r>
            <a:r>
              <a:rPr lang="en-IN" dirty="0" err="1"/>
              <a:t>OneHotEncoder</a:t>
            </a:r>
            <a:endParaRPr lang="en-IN" dirty="0"/>
          </a:p>
          <a:p>
            <a:r>
              <a:rPr lang="en-IN" dirty="0"/>
              <a:t>3. Logistic Regression</a:t>
            </a:r>
            <a:endParaRPr dirty="0"/>
          </a:p>
          <a:p>
            <a:r>
              <a:rPr lang="en-US" dirty="0"/>
              <a:t>4</a:t>
            </a:r>
            <a:r>
              <a:rPr dirty="0"/>
              <a:t>. Decision Tree</a:t>
            </a:r>
            <a:endParaRPr lang="en-IN" dirty="0"/>
          </a:p>
          <a:p>
            <a:r>
              <a:rPr lang="en-IN" dirty="0"/>
              <a:t>5. Random Forest</a:t>
            </a:r>
          </a:p>
          <a:p>
            <a:r>
              <a:rPr lang="en-IN" dirty="0"/>
              <a:t>6. K Nearest </a:t>
            </a:r>
            <a:r>
              <a:rPr lang="en-IN" dirty="0" err="1"/>
              <a:t>Neighbors</a:t>
            </a:r>
            <a:endParaRPr lang="en-IN" dirty="0"/>
          </a:p>
          <a:p>
            <a:r>
              <a:rPr lang="en-IN" dirty="0"/>
              <a:t>7. Support Vector </a:t>
            </a:r>
            <a:r>
              <a:rPr lang="en-IN" dirty="0" err="1"/>
              <a:t>Meachine</a:t>
            </a:r>
            <a:r>
              <a:rPr lang="en-IN" dirty="0"/>
              <a:t> (SVM)</a:t>
            </a:r>
          </a:p>
          <a:p>
            <a:r>
              <a:rPr lang="en-IN" dirty="0"/>
              <a:t>8. Gaussian NB</a:t>
            </a:r>
          </a:p>
          <a:p>
            <a:r>
              <a:rPr lang="en-IN" dirty="0"/>
              <a:t>9. Grid Search CV</a:t>
            </a:r>
          </a:p>
          <a:p>
            <a:r>
              <a:rPr lang="en-IN" dirty="0"/>
              <a:t>10. Ada Boost</a:t>
            </a:r>
          </a:p>
          <a:p>
            <a:r>
              <a:rPr lang="en-IN" dirty="0"/>
              <a:t>11. Gradient Boost</a:t>
            </a:r>
          </a:p>
          <a:p>
            <a:pPr marL="0" indent="0">
              <a:buNone/>
            </a:pPr>
            <a:r>
              <a:rPr lang="en-IN" b="1" dirty="0"/>
              <a:t>UN-SUPERVISED LEARNING :</a:t>
            </a:r>
          </a:p>
          <a:p>
            <a:r>
              <a:rPr lang="en-US" dirty="0"/>
              <a:t>1</a:t>
            </a:r>
            <a:r>
              <a:rPr dirty="0"/>
              <a:t>. K-Mean</a:t>
            </a:r>
            <a:r>
              <a:rPr lang="en-IN" dirty="0"/>
              <a:t>s Clustering</a:t>
            </a:r>
          </a:p>
          <a:p>
            <a:pPr marL="0" indent="0">
              <a:buNone/>
            </a:pPr>
            <a:r>
              <a:rPr lang="en-IN" b="1" dirty="0"/>
              <a:t>SAVING METHODS :</a:t>
            </a:r>
          </a:p>
          <a:p>
            <a:pPr>
              <a:buFont typeface="Courier New" panose="02070309020205020404" pitchFamily="49" charset="0"/>
              <a:buChar char="o"/>
            </a:pPr>
            <a:r>
              <a:rPr lang="en-IN" dirty="0" err="1"/>
              <a:t>Joblib</a:t>
            </a:r>
            <a:endParaRPr lang="en-IN" dirty="0"/>
          </a:p>
          <a:p>
            <a:pPr>
              <a:buFont typeface="Courier New" panose="02070309020205020404" pitchFamily="49" charset="0"/>
              <a:buChar char="o"/>
            </a:pPr>
            <a:r>
              <a:rPr lang="en-IN" dirty="0"/>
              <a:t>Pickle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E346-CEAF-D7AC-0167-76676E8C54A0}"/>
              </a:ext>
            </a:extLst>
          </p:cNvPr>
          <p:cNvSpPr>
            <a:spLocks noGrp="1"/>
          </p:cNvSpPr>
          <p:nvPr>
            <p:ph type="title"/>
          </p:nvPr>
        </p:nvSpPr>
        <p:spPr>
          <a:xfrm>
            <a:off x="457200" y="-98988"/>
            <a:ext cx="8229600" cy="1143000"/>
          </a:xfrm>
        </p:spPr>
        <p:txBody>
          <a:bodyPr>
            <a:normAutofit/>
          </a:bodyPr>
          <a:lstStyle/>
          <a:p>
            <a:pPr algn="l"/>
            <a:r>
              <a:rPr lang="en-IN" b="1" dirty="0"/>
              <a:t>SUPERVISED LEARNING</a:t>
            </a:r>
            <a:endParaRPr lang="en-IN" dirty="0"/>
          </a:p>
        </p:txBody>
      </p:sp>
      <p:sp>
        <p:nvSpPr>
          <p:cNvPr id="3" name="Content Placeholder 2">
            <a:extLst>
              <a:ext uri="{FF2B5EF4-FFF2-40B4-BE49-F238E27FC236}">
                <a16:creationId xmlns:a16="http://schemas.microsoft.com/office/drawing/2014/main" id="{9A460F36-BB31-4428-F4C1-F6E93EBEFB6C}"/>
              </a:ext>
            </a:extLst>
          </p:cNvPr>
          <p:cNvSpPr>
            <a:spLocks noGrp="1"/>
          </p:cNvSpPr>
          <p:nvPr>
            <p:ph idx="1"/>
          </p:nvPr>
        </p:nvSpPr>
        <p:spPr>
          <a:xfrm>
            <a:off x="457199" y="914400"/>
            <a:ext cx="8558981" cy="5388077"/>
          </a:xfrm>
        </p:spPr>
        <p:txBody>
          <a:bodyPr>
            <a:normAutofit/>
          </a:bodyPr>
          <a:lstStyle/>
          <a:p>
            <a:pPr marL="0" indent="0">
              <a:buNone/>
            </a:pPr>
            <a:r>
              <a:rPr lang="en-IN" sz="2100" dirty="0"/>
              <a:t>Supervised ML is a type of ML where the model is trained using </a:t>
            </a:r>
            <a:r>
              <a:rPr lang="en-IN" sz="2100" dirty="0" err="1"/>
              <a:t>labeled</a:t>
            </a:r>
            <a:r>
              <a:rPr lang="en-IN" sz="2100" dirty="0"/>
              <a:t> data. It will have both inputs and outputs columns. This means the input data comes with correct </a:t>
            </a:r>
            <a:r>
              <a:rPr lang="en-IN" sz="2100" dirty="0" err="1"/>
              <a:t>awarness</a:t>
            </a:r>
            <a:r>
              <a:rPr lang="en-IN" sz="2100" dirty="0"/>
              <a:t> and model learn to predict. Supervised learning can be broadly category into 2 main types on the nature of output variable of task being performed .</a:t>
            </a:r>
          </a:p>
          <a:p>
            <a:pPr marL="0" indent="0">
              <a:buNone/>
            </a:pPr>
            <a:endParaRPr lang="en-IN" sz="2100" dirty="0"/>
          </a:p>
          <a:p>
            <a:pPr marL="0" indent="0">
              <a:buNone/>
            </a:pPr>
            <a:r>
              <a:rPr lang="en-IN" sz="2100" dirty="0"/>
              <a:t>1. Regression :</a:t>
            </a:r>
          </a:p>
          <a:p>
            <a:pPr marL="0" indent="0">
              <a:buNone/>
            </a:pPr>
            <a:r>
              <a:rPr lang="en-IN" sz="2100" dirty="0"/>
              <a:t>    Predict continuous values.</a:t>
            </a:r>
          </a:p>
          <a:p>
            <a:pPr marL="0" indent="0">
              <a:buNone/>
            </a:pPr>
            <a:r>
              <a:rPr lang="en-IN" sz="2100" dirty="0"/>
              <a:t>2. Classification :</a:t>
            </a:r>
          </a:p>
          <a:p>
            <a:pPr marL="0" indent="0">
              <a:buNone/>
            </a:pPr>
            <a:r>
              <a:rPr lang="en-IN" sz="2100" dirty="0"/>
              <a:t>    Predict category or classes.</a:t>
            </a:r>
            <a:r>
              <a:rPr lang="en-IN" sz="2000" dirty="0"/>
              <a:t>  </a:t>
            </a:r>
          </a:p>
        </p:txBody>
      </p:sp>
    </p:spTree>
    <p:extLst>
      <p:ext uri="{BB962C8B-B14F-4D97-AF65-F5344CB8AC3E}">
        <p14:creationId xmlns:p14="http://schemas.microsoft.com/office/powerpoint/2010/main" val="653933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A2520-7043-548C-6077-01ADF89267AD}"/>
              </a:ext>
            </a:extLst>
          </p:cNvPr>
          <p:cNvSpPr>
            <a:spLocks noGrp="1"/>
          </p:cNvSpPr>
          <p:nvPr>
            <p:ph type="title"/>
          </p:nvPr>
        </p:nvSpPr>
        <p:spPr>
          <a:xfrm>
            <a:off x="457200" y="38664"/>
            <a:ext cx="8229600" cy="777414"/>
          </a:xfrm>
        </p:spPr>
        <p:txBody>
          <a:bodyPr>
            <a:normAutofit/>
          </a:bodyPr>
          <a:lstStyle/>
          <a:p>
            <a:pPr algn="l"/>
            <a:r>
              <a:rPr lang="en-IN" sz="4000" b="1" dirty="0">
                <a:latin typeface="Times New Roman" panose="02020603050405020304" pitchFamily="18" charset="0"/>
                <a:cs typeface="Times New Roman" panose="02020603050405020304" pitchFamily="18" charset="0"/>
              </a:rPr>
              <a:t>1. Linear Regression</a:t>
            </a:r>
          </a:p>
        </p:txBody>
      </p:sp>
      <p:sp>
        <p:nvSpPr>
          <p:cNvPr id="3" name="Content Placeholder 2">
            <a:extLst>
              <a:ext uri="{FF2B5EF4-FFF2-40B4-BE49-F238E27FC236}">
                <a16:creationId xmlns:a16="http://schemas.microsoft.com/office/drawing/2014/main" id="{AFBA9628-FC25-2490-5AFB-D6AD6AE30C5D}"/>
              </a:ext>
            </a:extLst>
          </p:cNvPr>
          <p:cNvSpPr>
            <a:spLocks noGrp="1"/>
          </p:cNvSpPr>
          <p:nvPr>
            <p:ph idx="1"/>
          </p:nvPr>
        </p:nvSpPr>
        <p:spPr>
          <a:xfrm>
            <a:off x="526026" y="1029930"/>
            <a:ext cx="7792064" cy="4525963"/>
          </a:xfrm>
        </p:spPr>
        <p:txBody>
          <a:bodyPr>
            <a:normAutofit/>
          </a:bodyPr>
          <a:lstStyle/>
          <a:p>
            <a:pPr marL="0" indent="0">
              <a:buNone/>
            </a:pPr>
            <a:r>
              <a:rPr lang="en-IN" sz="2200" b="1" dirty="0"/>
              <a:t>Simple linear regression</a:t>
            </a:r>
            <a:r>
              <a:rPr lang="en-IN" sz="2200" dirty="0"/>
              <a:t> is a statistical method used to the model the relationship between two variable. Independent variable X input/predictor/target. </a:t>
            </a:r>
          </a:p>
          <a:p>
            <a:pPr marL="0" indent="0">
              <a:buNone/>
            </a:pPr>
            <a:endParaRPr lang="en-IN" sz="2200" dirty="0"/>
          </a:p>
          <a:p>
            <a:pPr marL="0" indent="0">
              <a:buNone/>
            </a:pPr>
            <a:r>
              <a:rPr lang="en-IN" sz="2200" b="1" dirty="0"/>
              <a:t>Multiple linear regression </a:t>
            </a:r>
            <a:r>
              <a:rPr lang="en-IN" sz="2200" dirty="0"/>
              <a:t>want to create model with more than one independent model that is the dependent variable value can predict based on more than one independent  variable .</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373013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6AE8-4907-58DB-AF3F-3295AA3F4253}"/>
              </a:ext>
            </a:extLst>
          </p:cNvPr>
          <p:cNvSpPr>
            <a:spLocks noGrp="1"/>
          </p:cNvSpPr>
          <p:nvPr>
            <p:ph type="title"/>
          </p:nvPr>
        </p:nvSpPr>
        <p:spPr>
          <a:xfrm>
            <a:off x="457200" y="69722"/>
            <a:ext cx="8229600" cy="871948"/>
          </a:xfrm>
        </p:spPr>
        <p:txBody>
          <a:bodyPr>
            <a:normAutofit/>
          </a:bodyPr>
          <a:lstStyle/>
          <a:p>
            <a:pPr algn="l"/>
            <a:r>
              <a:rPr lang="en-IN" sz="4000" b="1" dirty="0">
                <a:latin typeface="Times New Roman" panose="02020603050405020304" pitchFamily="18" charset="0"/>
                <a:cs typeface="Times New Roman" panose="02020603050405020304" pitchFamily="18" charset="0"/>
              </a:rPr>
              <a:t>2. </a:t>
            </a:r>
            <a:r>
              <a:rPr lang="en-IN" sz="4000" b="1" dirty="0" err="1">
                <a:latin typeface="Times New Roman" panose="02020603050405020304" pitchFamily="18" charset="0"/>
                <a:cs typeface="Times New Roman" panose="02020603050405020304" pitchFamily="18" charset="0"/>
              </a:rPr>
              <a:t>OneHotEncoder</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844610-964D-C687-02ED-EC0257A83A23}"/>
              </a:ext>
            </a:extLst>
          </p:cNvPr>
          <p:cNvSpPr>
            <a:spLocks noGrp="1"/>
          </p:cNvSpPr>
          <p:nvPr>
            <p:ph idx="1"/>
          </p:nvPr>
        </p:nvSpPr>
        <p:spPr>
          <a:xfrm>
            <a:off x="668593" y="1166018"/>
            <a:ext cx="6951407" cy="4525963"/>
          </a:xfrm>
        </p:spPr>
        <p:txBody>
          <a:bodyPr>
            <a:normAutofit/>
          </a:bodyPr>
          <a:lstStyle/>
          <a:p>
            <a:pPr marL="0" indent="0">
              <a:buNone/>
            </a:pPr>
            <a:r>
              <a:rPr lang="en-IN" sz="2200" dirty="0"/>
              <a:t>One hot encoding is a method to automatically create a variable . In python, you can do it </a:t>
            </a:r>
            <a:r>
              <a:rPr lang="en-IN" sz="2200" dirty="0" err="1"/>
              <a:t>easly</a:t>
            </a:r>
            <a:r>
              <a:rPr lang="en-IN" sz="2200" dirty="0"/>
              <a:t> using pandas Scikit-learn(</a:t>
            </a:r>
            <a:r>
              <a:rPr lang="en-IN" sz="2200" dirty="0" err="1"/>
              <a:t>Sklearn</a:t>
            </a:r>
            <a:r>
              <a:rPr lang="en-IN" sz="2200" dirty="0"/>
              <a:t>).</a:t>
            </a:r>
          </a:p>
        </p:txBody>
      </p:sp>
    </p:spTree>
    <p:extLst>
      <p:ext uri="{BB962C8B-B14F-4D97-AF65-F5344CB8AC3E}">
        <p14:creationId xmlns:p14="http://schemas.microsoft.com/office/powerpoint/2010/main" val="125423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74957-2B4D-F12D-C297-7350517C6786}"/>
              </a:ext>
            </a:extLst>
          </p:cNvPr>
          <p:cNvSpPr>
            <a:spLocks noGrp="1"/>
          </p:cNvSpPr>
          <p:nvPr>
            <p:ph type="title"/>
          </p:nvPr>
        </p:nvSpPr>
        <p:spPr>
          <a:xfrm>
            <a:off x="358877" y="0"/>
            <a:ext cx="8229600" cy="850491"/>
          </a:xfrm>
        </p:spPr>
        <p:txBody>
          <a:bodyPr>
            <a:normAutofit/>
          </a:bodyPr>
          <a:lstStyle/>
          <a:p>
            <a:pPr algn="l"/>
            <a:r>
              <a:rPr lang="en-IN" sz="4000" b="1" dirty="0">
                <a:latin typeface="Times New Roman" panose="02020603050405020304" pitchFamily="18" charset="0"/>
                <a:cs typeface="Times New Roman" panose="02020603050405020304" pitchFamily="18" charset="0"/>
              </a:rPr>
              <a:t>3. Logistic Regression</a:t>
            </a:r>
          </a:p>
        </p:txBody>
      </p:sp>
      <p:sp>
        <p:nvSpPr>
          <p:cNvPr id="3" name="Content Placeholder 2">
            <a:extLst>
              <a:ext uri="{FF2B5EF4-FFF2-40B4-BE49-F238E27FC236}">
                <a16:creationId xmlns:a16="http://schemas.microsoft.com/office/drawing/2014/main" id="{0C5B7912-EE44-ACC4-979C-1BFBAA027D8D}"/>
              </a:ext>
            </a:extLst>
          </p:cNvPr>
          <p:cNvSpPr>
            <a:spLocks noGrp="1"/>
          </p:cNvSpPr>
          <p:nvPr>
            <p:ph idx="1"/>
          </p:nvPr>
        </p:nvSpPr>
        <p:spPr>
          <a:xfrm>
            <a:off x="462115" y="1012723"/>
            <a:ext cx="7285703" cy="4247535"/>
          </a:xfrm>
        </p:spPr>
        <p:txBody>
          <a:bodyPr>
            <a:normAutofit/>
          </a:bodyPr>
          <a:lstStyle/>
          <a:p>
            <a:pPr marL="0" indent="0" algn="just">
              <a:buNone/>
            </a:pPr>
            <a:r>
              <a:rPr lang="en-US" sz="2200" dirty="0"/>
              <a:t>It is classification algorithm not a regression algorithm. It predict the probability that is a given input belongs to a certain class. The output is always between 0 and 1 using the sigmoid function. </a:t>
            </a:r>
          </a:p>
        </p:txBody>
      </p:sp>
    </p:spTree>
    <p:extLst>
      <p:ext uri="{BB962C8B-B14F-4D97-AF65-F5344CB8AC3E}">
        <p14:creationId xmlns:p14="http://schemas.microsoft.com/office/powerpoint/2010/main" val="4242411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4A779-4CFE-9843-C222-F749CCC5BBAC}"/>
              </a:ext>
            </a:extLst>
          </p:cNvPr>
          <p:cNvSpPr>
            <a:spLocks noGrp="1"/>
          </p:cNvSpPr>
          <p:nvPr>
            <p:ph type="title"/>
          </p:nvPr>
        </p:nvSpPr>
        <p:spPr>
          <a:xfrm>
            <a:off x="457200" y="39328"/>
            <a:ext cx="8229600" cy="935857"/>
          </a:xfrm>
        </p:spPr>
        <p:txBody>
          <a:bodyPr>
            <a:normAutofit/>
          </a:bodyPr>
          <a:lstStyle/>
          <a:p>
            <a:pPr algn="l"/>
            <a:r>
              <a:rPr lang="en-US" sz="3600" b="1" dirty="0">
                <a:latin typeface="Times New Roman" panose="02020603050405020304" pitchFamily="18" charset="0"/>
                <a:cs typeface="Times New Roman" panose="02020603050405020304" pitchFamily="18" charset="0"/>
              </a:rPr>
              <a:t>4. </a:t>
            </a:r>
            <a:r>
              <a:rPr lang="en-US" sz="4000" b="1" dirty="0">
                <a:latin typeface="Times New Roman" panose="02020603050405020304" pitchFamily="18" charset="0"/>
                <a:cs typeface="Times New Roman" panose="02020603050405020304" pitchFamily="18" charset="0"/>
              </a:rPr>
              <a:t>Decision</a:t>
            </a:r>
            <a:r>
              <a:rPr lang="en-US" sz="3600" b="1" dirty="0">
                <a:latin typeface="Times New Roman" panose="02020603050405020304" pitchFamily="18" charset="0"/>
                <a:cs typeface="Times New Roman" panose="02020603050405020304" pitchFamily="18" charset="0"/>
              </a:rPr>
              <a:t> Tree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83550E-1910-9593-06DE-B11FDB056110}"/>
              </a:ext>
            </a:extLst>
          </p:cNvPr>
          <p:cNvSpPr>
            <a:spLocks noGrp="1"/>
          </p:cNvSpPr>
          <p:nvPr>
            <p:ph idx="1"/>
          </p:nvPr>
        </p:nvSpPr>
        <p:spPr>
          <a:xfrm>
            <a:off x="526026" y="1307690"/>
            <a:ext cx="7428271" cy="4384291"/>
          </a:xfrm>
        </p:spPr>
        <p:txBody>
          <a:bodyPr>
            <a:normAutofit/>
          </a:bodyPr>
          <a:lstStyle/>
          <a:p>
            <a:pPr marL="0" indent="0">
              <a:buNone/>
            </a:pPr>
            <a:r>
              <a:rPr lang="en-IN" sz="2200" dirty="0"/>
              <a:t>Is a popular supervised ML algorithm used for both classification and regression tasks , It’s works by splitting the dataset into smaller and smaller subset based on decision rule forming a tree like structure.</a:t>
            </a:r>
          </a:p>
        </p:txBody>
      </p:sp>
    </p:spTree>
    <p:extLst>
      <p:ext uri="{BB962C8B-B14F-4D97-AF65-F5344CB8AC3E}">
        <p14:creationId xmlns:p14="http://schemas.microsoft.com/office/powerpoint/2010/main" val="3507723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774" y="58328"/>
            <a:ext cx="8229600" cy="718420"/>
          </a:xfrm>
        </p:spPr>
        <p:txBody>
          <a:bodyPr>
            <a:noAutofit/>
          </a:bodyPr>
          <a:lstStyle/>
          <a:p>
            <a:pPr algn="l"/>
            <a:r>
              <a:rPr lang="en-IN" b="1" dirty="0">
                <a:latin typeface="Times New Roman" panose="02020603050405020304" pitchFamily="18" charset="0"/>
                <a:cs typeface="Times New Roman" panose="02020603050405020304" pitchFamily="18" charset="0"/>
              </a:rPr>
              <a:t>5. Random Forest</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0774" y="1219200"/>
            <a:ext cx="7039897" cy="4630994"/>
          </a:xfrm>
        </p:spPr>
        <p:txBody>
          <a:bodyPr>
            <a:normAutofit/>
          </a:bodyPr>
          <a:lstStyle/>
          <a:p>
            <a:pPr marL="0" indent="0">
              <a:buNone/>
            </a:pPr>
            <a:r>
              <a:rPr lang="en-IN" sz="2200" dirty="0"/>
              <a:t>It is a </a:t>
            </a:r>
            <a:r>
              <a:rPr lang="en-IN" sz="2200" dirty="0" err="1"/>
              <a:t>meachine</a:t>
            </a:r>
            <a:r>
              <a:rPr lang="en-IN" sz="2200" dirty="0"/>
              <a:t> learning algorithm used for classification and regression.</a:t>
            </a:r>
          </a:p>
          <a:p>
            <a:pPr marL="0" indent="0">
              <a:buNone/>
            </a:pPr>
            <a:r>
              <a:rPr lang="en-IN" sz="2200" dirty="0"/>
              <a:t>Many random decision tree working together.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48D2F-3426-5419-1250-2D9575CB5EEF}"/>
              </a:ext>
            </a:extLst>
          </p:cNvPr>
          <p:cNvSpPr>
            <a:spLocks noGrp="1"/>
          </p:cNvSpPr>
          <p:nvPr>
            <p:ph type="title"/>
          </p:nvPr>
        </p:nvSpPr>
        <p:spPr>
          <a:xfrm>
            <a:off x="619432" y="0"/>
            <a:ext cx="8229600" cy="915065"/>
          </a:xfrm>
        </p:spPr>
        <p:txBody>
          <a:bodyPr>
            <a:normAutofit/>
          </a:bodyPr>
          <a:lstStyle/>
          <a:p>
            <a:pPr algn="l"/>
            <a:r>
              <a:rPr lang="en-IN" b="1" dirty="0">
                <a:latin typeface="Times New Roman" panose="02020603050405020304" pitchFamily="18" charset="0"/>
                <a:cs typeface="Times New Roman" panose="02020603050405020304" pitchFamily="18" charset="0"/>
              </a:rPr>
              <a:t>6. K Nearest </a:t>
            </a:r>
            <a:r>
              <a:rPr lang="en-IN" b="1" dirty="0" err="1">
                <a:latin typeface="Times New Roman" panose="02020603050405020304" pitchFamily="18" charset="0"/>
                <a:cs typeface="Times New Roman" panose="02020603050405020304" pitchFamily="18" charset="0"/>
              </a:rPr>
              <a:t>Neighbors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B03F41-5B71-8CAF-BF79-587AD1952F8A}"/>
              </a:ext>
            </a:extLst>
          </p:cNvPr>
          <p:cNvSpPr>
            <a:spLocks noGrp="1"/>
          </p:cNvSpPr>
          <p:nvPr>
            <p:ph idx="1"/>
          </p:nvPr>
        </p:nvSpPr>
        <p:spPr>
          <a:xfrm>
            <a:off x="619432" y="1166018"/>
            <a:ext cx="7698658" cy="4525963"/>
          </a:xfrm>
        </p:spPr>
        <p:txBody>
          <a:bodyPr>
            <a:normAutofit/>
          </a:bodyPr>
          <a:lstStyle/>
          <a:p>
            <a:pPr marL="0" indent="0">
              <a:buNone/>
            </a:pPr>
            <a:r>
              <a:rPr lang="en-IN" sz="2200" dirty="0"/>
              <a:t>It’s stands for KNN , a supervised ML algorithm used for both classification and regression tasks, but it’s most commonly used for classification.</a:t>
            </a:r>
          </a:p>
          <a:p>
            <a:pPr marL="0" indent="0">
              <a:buNone/>
            </a:pPr>
            <a:r>
              <a:rPr lang="en-IN" sz="2200" dirty="0"/>
              <a:t>It’s one of the simplest ML algorithm that works purely on distance between data points.</a:t>
            </a:r>
          </a:p>
          <a:p>
            <a:pPr marL="0" indent="0">
              <a:buNone/>
            </a:pPr>
            <a:r>
              <a:rPr lang="en-IN" sz="2200" dirty="0"/>
              <a:t>A data point is classification based on how it’s </a:t>
            </a:r>
            <a:r>
              <a:rPr lang="en-IN" sz="2200" dirty="0" err="1"/>
              <a:t>neighbors</a:t>
            </a:r>
            <a:r>
              <a:rPr lang="en-IN" sz="2200" dirty="0"/>
              <a:t> are classified.</a:t>
            </a:r>
          </a:p>
        </p:txBody>
      </p:sp>
    </p:spTree>
    <p:extLst>
      <p:ext uri="{BB962C8B-B14F-4D97-AF65-F5344CB8AC3E}">
        <p14:creationId xmlns:p14="http://schemas.microsoft.com/office/powerpoint/2010/main" val="2132441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1CB74-2687-933B-17C9-8B68938D2994}"/>
              </a:ext>
            </a:extLst>
          </p:cNvPr>
          <p:cNvSpPr>
            <a:spLocks noGrp="1"/>
          </p:cNvSpPr>
          <p:nvPr>
            <p:ph type="title"/>
          </p:nvPr>
        </p:nvSpPr>
        <p:spPr>
          <a:xfrm>
            <a:off x="103239" y="0"/>
            <a:ext cx="8229600" cy="1143000"/>
          </a:xfrm>
        </p:spPr>
        <p:txBody>
          <a:bodyPr>
            <a:normAutofit fontScale="90000"/>
          </a:bodyPr>
          <a:lstStyle/>
          <a:p>
            <a:r>
              <a:rPr lang="en-IN" b="1" dirty="0">
                <a:latin typeface="Times New Roman" panose="02020603050405020304" pitchFamily="18" charset="0"/>
                <a:cs typeface="Times New Roman" panose="02020603050405020304" pitchFamily="18" charset="0"/>
              </a:rPr>
              <a:t>7. Support Vector </a:t>
            </a:r>
            <a:r>
              <a:rPr lang="en-IN" b="1" dirty="0" err="1">
                <a:latin typeface="Times New Roman" panose="02020603050405020304" pitchFamily="18" charset="0"/>
                <a:cs typeface="Times New Roman" panose="02020603050405020304" pitchFamily="18" charset="0"/>
              </a:rPr>
              <a:t>Meachine</a:t>
            </a:r>
            <a:r>
              <a:rPr lang="en-IN" b="1" dirty="0">
                <a:latin typeface="Times New Roman" panose="02020603050405020304" pitchFamily="18" charset="0"/>
                <a:cs typeface="Times New Roman" panose="02020603050405020304" pitchFamily="18" charset="0"/>
              </a:rPr>
              <a:t>(SVM)</a:t>
            </a:r>
          </a:p>
        </p:txBody>
      </p:sp>
      <p:sp>
        <p:nvSpPr>
          <p:cNvPr id="3" name="Content Placeholder 2">
            <a:extLst>
              <a:ext uri="{FF2B5EF4-FFF2-40B4-BE49-F238E27FC236}">
                <a16:creationId xmlns:a16="http://schemas.microsoft.com/office/drawing/2014/main" id="{E545FD53-EABF-EA49-442B-AC387FF0687A}"/>
              </a:ext>
            </a:extLst>
          </p:cNvPr>
          <p:cNvSpPr>
            <a:spLocks noGrp="1"/>
          </p:cNvSpPr>
          <p:nvPr>
            <p:ph idx="1"/>
          </p:nvPr>
        </p:nvSpPr>
        <p:spPr>
          <a:xfrm>
            <a:off x="457200" y="1285568"/>
            <a:ext cx="8018206" cy="4525963"/>
          </a:xfrm>
        </p:spPr>
        <p:txBody>
          <a:bodyPr>
            <a:normAutofit/>
          </a:bodyPr>
          <a:lstStyle/>
          <a:p>
            <a:pPr marL="0" indent="0">
              <a:buNone/>
            </a:pPr>
            <a:r>
              <a:rPr lang="en-IN" sz="2200" dirty="0"/>
              <a:t>SVM is a supervised ML algorithm used for classification and regression .</a:t>
            </a:r>
          </a:p>
          <a:p>
            <a:pPr marL="0" indent="0">
              <a:buNone/>
            </a:pPr>
            <a:r>
              <a:rPr lang="en-IN" sz="2200" dirty="0"/>
              <a:t>It is popular because , it works well on small to medium sized datasets and can handle non-linear data using </a:t>
            </a:r>
            <a:r>
              <a:rPr lang="en-IN" sz="2200" dirty="0" err="1"/>
              <a:t>kernals</a:t>
            </a:r>
            <a:r>
              <a:rPr lang="en-IN" sz="2200" dirty="0"/>
              <a:t>.</a:t>
            </a:r>
          </a:p>
        </p:txBody>
      </p:sp>
    </p:spTree>
    <p:extLst>
      <p:ext uri="{BB962C8B-B14F-4D97-AF65-F5344CB8AC3E}">
        <p14:creationId xmlns:p14="http://schemas.microsoft.com/office/powerpoint/2010/main" val="609313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C4C1-CD7C-67DA-E24A-B7A39F34B5E9}"/>
              </a:ext>
            </a:extLst>
          </p:cNvPr>
          <p:cNvSpPr>
            <a:spLocks noGrp="1"/>
          </p:cNvSpPr>
          <p:nvPr>
            <p:ph type="title"/>
          </p:nvPr>
        </p:nvSpPr>
        <p:spPr>
          <a:xfrm>
            <a:off x="457200" y="28515"/>
            <a:ext cx="8229600" cy="864255"/>
          </a:xfrm>
        </p:spPr>
        <p:txBody>
          <a:bodyPr>
            <a:normAutofit/>
          </a:bodyPr>
          <a:lstStyle/>
          <a:p>
            <a:pPr algn="l"/>
            <a:r>
              <a:rPr lang="en-IN" b="1" dirty="0">
                <a:latin typeface="Times New Roman" panose="02020603050405020304" pitchFamily="18" charset="0"/>
                <a:cs typeface="Times New Roman" panose="02020603050405020304" pitchFamily="18" charset="0"/>
              </a:rPr>
              <a:t>8. Gaussian NB</a:t>
            </a:r>
          </a:p>
        </p:txBody>
      </p:sp>
      <p:sp>
        <p:nvSpPr>
          <p:cNvPr id="3" name="Content Placeholder 2">
            <a:extLst>
              <a:ext uri="{FF2B5EF4-FFF2-40B4-BE49-F238E27FC236}">
                <a16:creationId xmlns:a16="http://schemas.microsoft.com/office/drawing/2014/main" id="{B0D90A2F-52DD-5C08-A8EF-3A347EA84D21}"/>
              </a:ext>
            </a:extLst>
          </p:cNvPr>
          <p:cNvSpPr>
            <a:spLocks noGrp="1"/>
          </p:cNvSpPr>
          <p:nvPr>
            <p:ph idx="1"/>
          </p:nvPr>
        </p:nvSpPr>
        <p:spPr>
          <a:xfrm>
            <a:off x="550606" y="1091381"/>
            <a:ext cx="7639665" cy="5109833"/>
          </a:xfrm>
        </p:spPr>
        <p:txBody>
          <a:bodyPr>
            <a:normAutofit/>
          </a:bodyPr>
          <a:lstStyle/>
          <a:p>
            <a:pPr marL="0" indent="0">
              <a:buNone/>
            </a:pPr>
            <a:r>
              <a:rPr lang="en-IN" sz="2400" dirty="0" err="1"/>
              <a:t>Guassian</a:t>
            </a:r>
            <a:r>
              <a:rPr lang="en-IN" sz="2400" dirty="0"/>
              <a:t> naïve bayes (NB) is a supervised learning algorithm used for classification. It predicts categories using probabilities.</a:t>
            </a:r>
          </a:p>
          <a:p>
            <a:pPr marL="0" indent="0">
              <a:buNone/>
            </a:pPr>
            <a:r>
              <a:rPr lang="en-IN" sz="2400" dirty="0"/>
              <a:t>This is used when the data has continuous values.</a:t>
            </a:r>
          </a:p>
        </p:txBody>
      </p:sp>
    </p:spTree>
    <p:extLst>
      <p:ext uri="{BB962C8B-B14F-4D97-AF65-F5344CB8AC3E}">
        <p14:creationId xmlns:p14="http://schemas.microsoft.com/office/powerpoint/2010/main" val="1593243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288FE-8A49-CDBC-9B08-FAEB7538498C}"/>
              </a:ext>
            </a:extLst>
          </p:cNvPr>
          <p:cNvSpPr>
            <a:spLocks noGrp="1"/>
          </p:cNvSpPr>
          <p:nvPr>
            <p:ph type="title"/>
          </p:nvPr>
        </p:nvSpPr>
        <p:spPr>
          <a:xfrm>
            <a:off x="457200" y="0"/>
            <a:ext cx="8229600" cy="916193"/>
          </a:xfrm>
        </p:spPr>
        <p:txBody>
          <a:bodyPr>
            <a:normAutofit/>
          </a:bodyPr>
          <a:lstStyle/>
          <a:p>
            <a:pPr algn="l"/>
            <a:r>
              <a:rPr lang="en-IN" b="1" dirty="0">
                <a:latin typeface="Times New Roman" panose="02020603050405020304" pitchFamily="18" charset="0"/>
                <a:cs typeface="Times New Roman" panose="02020603050405020304" pitchFamily="18" charset="0"/>
              </a:rPr>
              <a:t>9. Grid Search CV</a:t>
            </a:r>
          </a:p>
        </p:txBody>
      </p:sp>
      <p:sp>
        <p:nvSpPr>
          <p:cNvPr id="3" name="Content Placeholder 2">
            <a:extLst>
              <a:ext uri="{FF2B5EF4-FFF2-40B4-BE49-F238E27FC236}">
                <a16:creationId xmlns:a16="http://schemas.microsoft.com/office/drawing/2014/main" id="{758EE554-2903-8A01-AFD2-21DBD4AAAF5B}"/>
              </a:ext>
            </a:extLst>
          </p:cNvPr>
          <p:cNvSpPr>
            <a:spLocks noGrp="1"/>
          </p:cNvSpPr>
          <p:nvPr>
            <p:ph idx="1"/>
          </p:nvPr>
        </p:nvSpPr>
        <p:spPr>
          <a:xfrm>
            <a:off x="457200" y="1140542"/>
            <a:ext cx="7742903" cy="4348317"/>
          </a:xfrm>
        </p:spPr>
        <p:txBody>
          <a:bodyPr>
            <a:normAutofit/>
          </a:bodyPr>
          <a:lstStyle/>
          <a:p>
            <a:pPr marL="0" indent="0">
              <a:buNone/>
            </a:pPr>
            <a:r>
              <a:rPr lang="en-IN" sz="2200" dirty="0"/>
              <a:t>Grid search CV ( Grid search with cross validation ) does three things :-</a:t>
            </a:r>
          </a:p>
          <a:p>
            <a:pPr marL="457200" indent="-457200">
              <a:buAutoNum type="arabicPeriod"/>
            </a:pPr>
            <a:r>
              <a:rPr lang="en-IN" sz="2200" dirty="0"/>
              <a:t>Tries all possible combinations of hyper parameters you provide.</a:t>
            </a:r>
          </a:p>
          <a:p>
            <a:pPr marL="457200" indent="-457200">
              <a:buAutoNum type="arabicPeriod"/>
            </a:pPr>
            <a:r>
              <a:rPr lang="en-IN" sz="2200" dirty="0"/>
              <a:t>Train and evaluate each combination using cross validation.</a:t>
            </a:r>
          </a:p>
          <a:p>
            <a:pPr marL="457200" indent="-457200">
              <a:buAutoNum type="arabicPeriod"/>
            </a:pPr>
            <a:r>
              <a:rPr lang="en-IN" sz="2200" dirty="0"/>
              <a:t>Find the combination that gives the highest accuracy . It’s like trying all </a:t>
            </a:r>
            <a:r>
              <a:rPr lang="en-IN" sz="2200" dirty="0" err="1"/>
              <a:t>recipies</a:t>
            </a:r>
            <a:r>
              <a:rPr lang="en-IN" sz="2200" dirty="0"/>
              <a:t> and keeping the one that keeps the best.</a:t>
            </a:r>
          </a:p>
        </p:txBody>
      </p:sp>
    </p:spTree>
    <p:extLst>
      <p:ext uri="{BB962C8B-B14F-4D97-AF65-F5344CB8AC3E}">
        <p14:creationId xmlns:p14="http://schemas.microsoft.com/office/powerpoint/2010/main" val="2188986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7EFFE-39DC-07FF-AA7E-31E09672ADBA}"/>
              </a:ext>
            </a:extLst>
          </p:cNvPr>
          <p:cNvSpPr>
            <a:spLocks noGrp="1"/>
          </p:cNvSpPr>
          <p:nvPr>
            <p:ph type="title"/>
          </p:nvPr>
        </p:nvSpPr>
        <p:spPr>
          <a:xfrm>
            <a:off x="457200" y="0"/>
            <a:ext cx="8229600" cy="876864"/>
          </a:xfrm>
        </p:spPr>
        <p:txBody>
          <a:bodyPr>
            <a:normAutofit/>
          </a:bodyPr>
          <a:lstStyle/>
          <a:p>
            <a:pPr algn="l"/>
            <a:r>
              <a:rPr lang="en-IN" b="1" dirty="0">
                <a:latin typeface="Times New Roman" panose="02020603050405020304" pitchFamily="18" charset="0"/>
                <a:cs typeface="Times New Roman" panose="02020603050405020304" pitchFamily="18" charset="0"/>
              </a:rPr>
              <a:t>10. Ada Boost</a:t>
            </a:r>
          </a:p>
        </p:txBody>
      </p:sp>
      <p:sp>
        <p:nvSpPr>
          <p:cNvPr id="3" name="Content Placeholder 2">
            <a:extLst>
              <a:ext uri="{FF2B5EF4-FFF2-40B4-BE49-F238E27FC236}">
                <a16:creationId xmlns:a16="http://schemas.microsoft.com/office/drawing/2014/main" id="{9DBFDD46-73F9-3BE4-A178-1C56F72B3C52}"/>
              </a:ext>
            </a:extLst>
          </p:cNvPr>
          <p:cNvSpPr>
            <a:spLocks noGrp="1"/>
          </p:cNvSpPr>
          <p:nvPr>
            <p:ph idx="1"/>
          </p:nvPr>
        </p:nvSpPr>
        <p:spPr>
          <a:xfrm>
            <a:off x="457200" y="1166018"/>
            <a:ext cx="7664245" cy="4525963"/>
          </a:xfrm>
        </p:spPr>
        <p:txBody>
          <a:bodyPr>
            <a:normAutofit/>
          </a:bodyPr>
          <a:lstStyle/>
          <a:p>
            <a:pPr marL="0" indent="0">
              <a:buNone/>
            </a:pPr>
            <a:r>
              <a:rPr lang="en-IN" sz="2200" dirty="0"/>
              <a:t>Ada Boost (adaptive boosting) is a boosting algorithm that combines multiple weak models to create one strong model.</a:t>
            </a:r>
          </a:p>
        </p:txBody>
      </p:sp>
    </p:spTree>
    <p:extLst>
      <p:ext uri="{BB962C8B-B14F-4D97-AF65-F5344CB8AC3E}">
        <p14:creationId xmlns:p14="http://schemas.microsoft.com/office/powerpoint/2010/main" val="1376795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828A-72AB-CC4F-10B8-595AE4018578}"/>
              </a:ext>
            </a:extLst>
          </p:cNvPr>
          <p:cNvSpPr>
            <a:spLocks noGrp="1"/>
          </p:cNvSpPr>
          <p:nvPr>
            <p:ph type="title"/>
          </p:nvPr>
        </p:nvSpPr>
        <p:spPr>
          <a:xfrm>
            <a:off x="457200" y="0"/>
            <a:ext cx="8229600" cy="886696"/>
          </a:xfrm>
        </p:spPr>
        <p:txBody>
          <a:bodyPr>
            <a:normAutofit/>
          </a:bodyPr>
          <a:lstStyle/>
          <a:p>
            <a:pPr algn="l"/>
            <a:r>
              <a:rPr lang="en-IN" b="1" dirty="0">
                <a:latin typeface="Times New Roman" panose="02020603050405020304" pitchFamily="18" charset="0"/>
                <a:cs typeface="Times New Roman" panose="02020603050405020304" pitchFamily="18" charset="0"/>
              </a:rPr>
              <a:t>11. Gradient Boost</a:t>
            </a:r>
          </a:p>
        </p:txBody>
      </p:sp>
      <p:sp>
        <p:nvSpPr>
          <p:cNvPr id="3" name="Content Placeholder 2">
            <a:extLst>
              <a:ext uri="{FF2B5EF4-FFF2-40B4-BE49-F238E27FC236}">
                <a16:creationId xmlns:a16="http://schemas.microsoft.com/office/drawing/2014/main" id="{F3EEE196-7371-E2EF-E160-715DA07989E4}"/>
              </a:ext>
            </a:extLst>
          </p:cNvPr>
          <p:cNvSpPr>
            <a:spLocks noGrp="1"/>
          </p:cNvSpPr>
          <p:nvPr>
            <p:ph idx="1"/>
          </p:nvPr>
        </p:nvSpPr>
        <p:spPr>
          <a:xfrm>
            <a:off x="457200" y="1088922"/>
            <a:ext cx="7398774" cy="4525963"/>
          </a:xfrm>
        </p:spPr>
        <p:txBody>
          <a:bodyPr>
            <a:normAutofit/>
          </a:bodyPr>
          <a:lstStyle/>
          <a:p>
            <a:pPr marL="0" indent="0">
              <a:buNone/>
            </a:pPr>
            <a:r>
              <a:rPr lang="en-IN" sz="2200" dirty="0"/>
              <a:t>Gradient boosting is a ensemble learning technique , it builds a strong model by combining many weak models .It’s part of the boosting family just like </a:t>
            </a:r>
            <a:r>
              <a:rPr lang="en-IN" sz="2200" dirty="0" err="1"/>
              <a:t>ada</a:t>
            </a:r>
            <a:r>
              <a:rPr lang="en-IN" sz="2200" dirty="0"/>
              <a:t> boost but works differently.</a:t>
            </a:r>
          </a:p>
          <a:p>
            <a:pPr marL="0" indent="0">
              <a:buNone/>
            </a:pPr>
            <a:r>
              <a:rPr lang="en-IN" sz="2200" dirty="0"/>
              <a:t>Gradient boosting builds the model stage by stage each new model tries to fix the error made by the previous one. Each new trees tries to correct the mistakes made by all the trees before it.</a:t>
            </a:r>
          </a:p>
        </p:txBody>
      </p:sp>
    </p:spTree>
    <p:extLst>
      <p:ext uri="{BB962C8B-B14F-4D97-AF65-F5344CB8AC3E}">
        <p14:creationId xmlns:p14="http://schemas.microsoft.com/office/powerpoint/2010/main" val="1440966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7578-2C82-0D15-0B2A-75C8153A74BA}"/>
              </a:ext>
            </a:extLst>
          </p:cNvPr>
          <p:cNvSpPr>
            <a:spLocks noGrp="1"/>
          </p:cNvSpPr>
          <p:nvPr>
            <p:ph type="title"/>
          </p:nvPr>
        </p:nvSpPr>
        <p:spPr>
          <a:xfrm>
            <a:off x="457200" y="0"/>
            <a:ext cx="8229600" cy="998537"/>
          </a:xfrm>
        </p:spPr>
        <p:txBody>
          <a:bodyPr>
            <a:normAutofit/>
          </a:bodyPr>
          <a:lstStyle/>
          <a:p>
            <a:pPr algn="l"/>
            <a:r>
              <a:rPr lang="en-IN" b="1" dirty="0"/>
              <a:t>UN-SUPERVISED LEARNING</a:t>
            </a:r>
            <a:endParaRPr lang="en-IN" dirty="0"/>
          </a:p>
        </p:txBody>
      </p:sp>
      <p:sp>
        <p:nvSpPr>
          <p:cNvPr id="3" name="Content Placeholder 2">
            <a:extLst>
              <a:ext uri="{FF2B5EF4-FFF2-40B4-BE49-F238E27FC236}">
                <a16:creationId xmlns:a16="http://schemas.microsoft.com/office/drawing/2014/main" id="{DDB08D18-2D89-0F16-BCC0-319286439FA2}"/>
              </a:ext>
            </a:extLst>
          </p:cNvPr>
          <p:cNvSpPr>
            <a:spLocks noGrp="1"/>
          </p:cNvSpPr>
          <p:nvPr>
            <p:ph idx="1"/>
          </p:nvPr>
        </p:nvSpPr>
        <p:spPr>
          <a:xfrm>
            <a:off x="457200" y="1295400"/>
            <a:ext cx="7742903" cy="4525963"/>
          </a:xfrm>
        </p:spPr>
        <p:txBody>
          <a:bodyPr>
            <a:normAutofit/>
          </a:bodyPr>
          <a:lstStyle/>
          <a:p>
            <a:pPr marL="0" indent="0">
              <a:buNone/>
            </a:pPr>
            <a:r>
              <a:rPr lang="en-IN" sz="2200" dirty="0"/>
              <a:t>Un-Supervised Learning is a type of ML technique , which an algorithm deserves pattern and relationship using un labelled data.</a:t>
            </a:r>
          </a:p>
        </p:txBody>
      </p:sp>
    </p:spTree>
    <p:extLst>
      <p:ext uri="{BB962C8B-B14F-4D97-AF65-F5344CB8AC3E}">
        <p14:creationId xmlns:p14="http://schemas.microsoft.com/office/powerpoint/2010/main" val="3633545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6275E-B7EB-80C5-35D0-CD93F8F7C106}"/>
              </a:ext>
            </a:extLst>
          </p:cNvPr>
          <p:cNvSpPr>
            <a:spLocks noGrp="1"/>
          </p:cNvSpPr>
          <p:nvPr>
            <p:ph type="title"/>
          </p:nvPr>
        </p:nvSpPr>
        <p:spPr>
          <a:xfrm>
            <a:off x="457200" y="78658"/>
            <a:ext cx="8229600" cy="945690"/>
          </a:xfrm>
        </p:spPr>
        <p:txBody>
          <a:bodyPr>
            <a:normAutofit/>
          </a:bodyPr>
          <a:lstStyle/>
          <a:p>
            <a:pPr algn="l"/>
            <a:r>
              <a:rPr lang="en-US" b="1" dirty="0">
                <a:latin typeface="Times New Roman" panose="02020603050405020304" pitchFamily="18" charset="0"/>
                <a:cs typeface="Times New Roman" panose="02020603050405020304" pitchFamily="18" charset="0"/>
              </a:rPr>
              <a:t>1. K-Means Clustering</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5173B9-B779-F466-09DF-BBD79B6B78B8}"/>
              </a:ext>
            </a:extLst>
          </p:cNvPr>
          <p:cNvSpPr>
            <a:spLocks noGrp="1"/>
          </p:cNvSpPr>
          <p:nvPr>
            <p:ph idx="1"/>
          </p:nvPr>
        </p:nvSpPr>
        <p:spPr>
          <a:xfrm>
            <a:off x="457200" y="1166018"/>
            <a:ext cx="7772400" cy="4525963"/>
          </a:xfrm>
        </p:spPr>
        <p:txBody>
          <a:bodyPr>
            <a:normAutofit/>
          </a:bodyPr>
          <a:lstStyle/>
          <a:p>
            <a:pPr marL="0" indent="0">
              <a:buNone/>
            </a:pPr>
            <a:r>
              <a:rPr lang="en-IN" sz="2200" dirty="0"/>
              <a:t>It is an un-supervised ML algorithm used for </a:t>
            </a:r>
            <a:r>
              <a:rPr lang="en-IN" sz="2200" dirty="0" err="1"/>
              <a:t>dusturing</a:t>
            </a:r>
            <a:r>
              <a:rPr lang="en-IN" sz="2200" dirty="0"/>
              <a:t>. That means, it groups similar data points into K different clusters without using any labels (no </a:t>
            </a:r>
            <a:r>
              <a:rPr lang="en-IN" sz="2200" dirty="0" err="1"/>
              <a:t>targrt</a:t>
            </a:r>
            <a:r>
              <a:rPr lang="en-IN" sz="2200" dirty="0"/>
              <a:t> variable ). It finals patterns or groups in the data automatically.</a:t>
            </a:r>
          </a:p>
        </p:txBody>
      </p:sp>
    </p:spTree>
    <p:extLst>
      <p:ext uri="{BB962C8B-B14F-4D97-AF65-F5344CB8AC3E}">
        <p14:creationId xmlns:p14="http://schemas.microsoft.com/office/powerpoint/2010/main" val="3162988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4D090-4B00-8ED2-F8EB-6343F3C9B2AA}"/>
              </a:ext>
            </a:extLst>
          </p:cNvPr>
          <p:cNvSpPr>
            <a:spLocks noGrp="1"/>
          </p:cNvSpPr>
          <p:nvPr>
            <p:ph type="title"/>
          </p:nvPr>
        </p:nvSpPr>
        <p:spPr>
          <a:xfrm>
            <a:off x="457200" y="274638"/>
            <a:ext cx="8229600" cy="887240"/>
          </a:xfrm>
        </p:spPr>
        <p:txBody>
          <a:bodyPr/>
          <a:lstStyle/>
          <a:p>
            <a:pPr algn="l"/>
            <a:r>
              <a:rPr lang="en-IN" b="1" dirty="0">
                <a:cs typeface="Times New Roman" panose="02020603050405020304" pitchFamily="18" charset="0"/>
              </a:rPr>
              <a:t>SAVING METHODS</a:t>
            </a:r>
          </a:p>
        </p:txBody>
      </p:sp>
      <p:sp>
        <p:nvSpPr>
          <p:cNvPr id="4" name="Rectangle 1">
            <a:extLst>
              <a:ext uri="{FF2B5EF4-FFF2-40B4-BE49-F238E27FC236}">
                <a16:creationId xmlns:a16="http://schemas.microsoft.com/office/drawing/2014/main" id="{1F181C95-9E65-CE9A-D568-7C953F715EE0}"/>
              </a:ext>
            </a:extLst>
          </p:cNvPr>
          <p:cNvSpPr>
            <a:spLocks noGrp="1" noChangeArrowheads="1"/>
          </p:cNvSpPr>
          <p:nvPr>
            <p:ph idx="1"/>
          </p:nvPr>
        </p:nvSpPr>
        <p:spPr bwMode="auto">
          <a:xfrm>
            <a:off x="578265" y="1105460"/>
            <a:ext cx="7985632" cy="5205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mj-lt"/>
              </a:rPr>
              <a:t>Used for </a:t>
            </a:r>
            <a:r>
              <a:rPr kumimoji="0" lang="en-US" altLang="en-US" sz="2400" b="1" i="0" u="none" strike="noStrike" cap="none" normalizeH="0" baseline="0" dirty="0">
                <a:ln>
                  <a:noFill/>
                </a:ln>
                <a:solidFill>
                  <a:schemeClr val="tx1"/>
                </a:solidFill>
                <a:effectLst/>
                <a:latin typeface="+mj-lt"/>
              </a:rPr>
              <a:t>saving trained ML models </a:t>
            </a:r>
            <a:r>
              <a:rPr kumimoji="0" lang="en-US" altLang="en-US" sz="2400" i="0" u="none" strike="noStrike" cap="none" normalizeH="0" baseline="0" dirty="0">
                <a:ln>
                  <a:noFill/>
                </a:ln>
                <a:solidFill>
                  <a:schemeClr val="tx1"/>
                </a:solidFill>
                <a:effectLst/>
                <a:latin typeface="+mj-lt"/>
              </a:rPr>
              <a:t>without retraining.</a:t>
            </a:r>
          </a:p>
          <a:p>
            <a:pPr defTabSz="914400"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mj-lt"/>
              </a:rPr>
              <a:t>Allows easy deployment into applications or future predictions.</a:t>
            </a:r>
          </a:p>
          <a:p>
            <a:pPr defTabSz="914400" eaLnBrk="0" fontAlgn="base" hangingPunct="0">
              <a:lnSpc>
                <a:spcPct val="150000"/>
              </a:lnSpc>
              <a:spcBef>
                <a:spcPct val="0"/>
              </a:spcBef>
              <a:spcAft>
                <a:spcPct val="0"/>
              </a:spcAft>
              <a:buFont typeface="Wingdings" panose="05000000000000000000" pitchFamily="2" charset="2"/>
              <a:buChar char="v"/>
            </a:pPr>
            <a:r>
              <a:rPr kumimoji="0" lang="en-US" altLang="en-US" sz="2400" b="1" i="0" u="sng" strike="noStrike" cap="none" normalizeH="0" baseline="0" dirty="0" err="1">
                <a:ln>
                  <a:noFill/>
                </a:ln>
                <a:solidFill>
                  <a:schemeClr val="tx1"/>
                </a:solidFill>
                <a:effectLst/>
                <a:latin typeface="+mj-lt"/>
              </a:rPr>
              <a:t>Joblib</a:t>
            </a:r>
            <a:endParaRPr kumimoji="0" lang="en-US" altLang="en-US" sz="2400" b="1" i="0" u="sng" strike="noStrike" cap="none" normalizeH="0" baseline="0" dirty="0">
              <a:ln>
                <a:noFill/>
              </a:ln>
              <a:solidFill>
                <a:schemeClr val="tx1"/>
              </a:solidFill>
              <a:effectLst/>
              <a:latin typeface="+mj-lt"/>
            </a:endParaRPr>
          </a:p>
          <a:p>
            <a:pPr defTabSz="914400" eaLnBrk="0" fontAlgn="base" hangingPunct="0">
              <a:lnSpc>
                <a:spcPct val="150000"/>
              </a:lnSpc>
              <a:spcBef>
                <a:spcPct val="0"/>
              </a:spcBef>
              <a:spcAft>
                <a:spcPct val="0"/>
              </a:spcAft>
            </a:pPr>
            <a:r>
              <a:rPr kumimoji="0" lang="en-US" altLang="en-US" sz="2400" i="0" u="none" strike="noStrike" cap="none" normalizeH="0" baseline="0" dirty="0" err="1">
                <a:ln>
                  <a:noFill/>
                </a:ln>
                <a:solidFill>
                  <a:schemeClr val="tx1"/>
                </a:solidFill>
                <a:effectLst/>
                <a:latin typeface="+mj-lt"/>
              </a:rPr>
              <a:t>Joblib</a:t>
            </a:r>
            <a:r>
              <a:rPr kumimoji="0" lang="en-US" altLang="en-US" sz="2400" i="0" u="none" strike="noStrike" cap="none" normalizeH="0" baseline="0" dirty="0">
                <a:ln>
                  <a:noFill/>
                </a:ln>
                <a:solidFill>
                  <a:schemeClr val="tx1"/>
                </a:solidFill>
                <a:effectLst/>
                <a:latin typeface="+mj-lt"/>
              </a:rPr>
              <a:t> preferred for large models (Random Forest).</a:t>
            </a:r>
          </a:p>
          <a:p>
            <a:pPr defTabSz="914400" eaLnBrk="0" fontAlgn="base" hangingPunct="0">
              <a:lnSpc>
                <a:spcPct val="200000"/>
              </a:lnSpc>
              <a:spcBef>
                <a:spcPct val="0"/>
              </a:spcBef>
              <a:spcAft>
                <a:spcPct val="0"/>
              </a:spcAft>
              <a:buFont typeface="Wingdings" panose="05000000000000000000" pitchFamily="2" charset="2"/>
              <a:buChar char="v"/>
            </a:pPr>
            <a:r>
              <a:rPr kumimoji="0" lang="en-US" altLang="en-US" sz="2400" b="1" i="0" u="sng" strike="noStrike" cap="none" normalizeH="0" baseline="0" dirty="0">
                <a:ln>
                  <a:noFill/>
                </a:ln>
                <a:solidFill>
                  <a:schemeClr val="tx1"/>
                </a:solidFill>
                <a:effectLst/>
                <a:latin typeface="+mj-lt"/>
              </a:rPr>
              <a:t>Pickle</a:t>
            </a:r>
          </a:p>
          <a:p>
            <a:pPr defTabSz="914400" eaLnBrk="0" fontAlgn="base" hangingPunct="0">
              <a:lnSpc>
                <a:spcPct val="150000"/>
              </a:lnSpc>
              <a:spcBef>
                <a:spcPct val="0"/>
              </a:spcBef>
              <a:spcAft>
                <a:spcPct val="0"/>
              </a:spcAft>
            </a:pPr>
            <a:r>
              <a:rPr kumimoji="0" lang="en-US" altLang="en-US" sz="2400" i="0" u="none" strike="noStrike" cap="none" normalizeH="0" baseline="0" dirty="0">
                <a:ln>
                  <a:noFill/>
                </a:ln>
                <a:solidFill>
                  <a:schemeClr val="tx1"/>
                </a:solidFill>
                <a:effectLst/>
                <a:latin typeface="+mj-lt"/>
              </a:rPr>
              <a:t>Pickle good for storing preprocessing objects (encoders, transformers).</a:t>
            </a:r>
          </a:p>
          <a:p>
            <a:pPr marL="0" indent="0" defTabSz="914400" eaLnBrk="0" fontAlgn="base" hangingPunct="0">
              <a:lnSpc>
                <a:spcPct val="150000"/>
              </a:lnSpc>
              <a:spcBef>
                <a:spcPct val="0"/>
              </a:spcBef>
              <a:spcAft>
                <a:spcPct val="0"/>
              </a:spcAft>
              <a:buNone/>
            </a:pPr>
            <a:endParaRPr kumimoji="0" lang="en-US" altLang="en-US" sz="2400" b="1"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148534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BF4CE-FAB7-1068-7A22-75D16C8B7127}"/>
              </a:ext>
            </a:extLst>
          </p:cNvPr>
          <p:cNvSpPr>
            <a:spLocks noGrp="1"/>
          </p:cNvSpPr>
          <p:nvPr>
            <p:ph type="title"/>
          </p:nvPr>
        </p:nvSpPr>
        <p:spPr>
          <a:xfrm>
            <a:off x="457200" y="-115298"/>
            <a:ext cx="8229600" cy="1143000"/>
          </a:xfrm>
        </p:spPr>
        <p:txBody>
          <a:bodyPr/>
          <a:lstStyle/>
          <a:p>
            <a:pPr algn="l"/>
            <a:r>
              <a:rPr lang="en-IN" b="1" dirty="0"/>
              <a:t>CONCLUSION</a:t>
            </a:r>
          </a:p>
        </p:txBody>
      </p:sp>
      <p:sp>
        <p:nvSpPr>
          <p:cNvPr id="3" name="Content Placeholder 2">
            <a:extLst>
              <a:ext uri="{FF2B5EF4-FFF2-40B4-BE49-F238E27FC236}">
                <a16:creationId xmlns:a16="http://schemas.microsoft.com/office/drawing/2014/main" id="{527068D9-105C-D5C3-81B2-9DEA51DE869A}"/>
              </a:ext>
            </a:extLst>
          </p:cNvPr>
          <p:cNvSpPr>
            <a:spLocks noGrp="1"/>
          </p:cNvSpPr>
          <p:nvPr>
            <p:ph idx="1"/>
          </p:nvPr>
        </p:nvSpPr>
        <p:spPr>
          <a:xfrm>
            <a:off x="533400" y="860554"/>
            <a:ext cx="7617542" cy="5913872"/>
          </a:xfrm>
        </p:spPr>
        <p:txBody>
          <a:bodyPr>
            <a:normAutofit fontScale="92500" lnSpcReduction="20000"/>
          </a:bodyPr>
          <a:lstStyle/>
          <a:p>
            <a:r>
              <a:rPr lang="en-US" sz="2800" dirty="0"/>
              <a:t>The trilobite dataset combines biological, geological, and geographic features, making it suitable for both supervised and unsupervised machine learning.</a:t>
            </a:r>
          </a:p>
          <a:p>
            <a:pPr>
              <a:lnSpc>
                <a:spcPct val="120000"/>
              </a:lnSpc>
            </a:pPr>
            <a:r>
              <a:rPr lang="en-US" sz="2800" dirty="0"/>
              <a:t>Among the tested algorithms, </a:t>
            </a:r>
            <a:r>
              <a:rPr lang="en-US" sz="2800" b="1" dirty="0"/>
              <a:t>Random Forest achieved the best performance</a:t>
            </a:r>
            <a:r>
              <a:rPr lang="en-US" sz="2800" dirty="0"/>
              <a:t>, offering strong accuracy, stability, and feature interpretability.</a:t>
            </a:r>
          </a:p>
          <a:p>
            <a:r>
              <a:rPr lang="en-US" sz="2800" dirty="0"/>
              <a:t>Decision Tree helped visualize decision boundaries, while K-Means revealed natural groupings in age and location.</a:t>
            </a:r>
          </a:p>
          <a:p>
            <a:r>
              <a:rPr lang="en-US" sz="2800" dirty="0"/>
              <a:t>Using </a:t>
            </a:r>
            <a:r>
              <a:rPr lang="en-US" sz="2800" b="1" dirty="0" err="1"/>
              <a:t>Joblib</a:t>
            </a:r>
            <a:r>
              <a:rPr lang="en-US" sz="2800" b="1" dirty="0"/>
              <a:t> and Pickle</a:t>
            </a:r>
            <a:r>
              <a:rPr lang="en-US" sz="2800" dirty="0"/>
              <a:t>, the models were saved for future use, enabling fast predictions of trilobite age or species.</a:t>
            </a:r>
          </a:p>
          <a:p>
            <a:r>
              <a:rPr lang="en-US" sz="2800" dirty="0"/>
              <a:t>Overall, this ML approach provides meaningful insights into trilobite evolution</a:t>
            </a:r>
            <a:r>
              <a:rPr lang="en-US" sz="2800"/>
              <a:t>, paleo environment </a:t>
            </a:r>
            <a:r>
              <a:rPr lang="en-US" sz="2800" dirty="0"/>
              <a:t>patterns, and age classification, making it a valuable tool for paleontological research.</a:t>
            </a:r>
            <a:endParaRPr lang="en-IN" sz="2800" dirty="0"/>
          </a:p>
        </p:txBody>
      </p:sp>
    </p:spTree>
    <p:extLst>
      <p:ext uri="{BB962C8B-B14F-4D97-AF65-F5344CB8AC3E}">
        <p14:creationId xmlns:p14="http://schemas.microsoft.com/office/powerpoint/2010/main" val="2022249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FDB60-42B9-91C7-8EA3-2355AFB9B83C}"/>
              </a:ext>
            </a:extLst>
          </p:cNvPr>
          <p:cNvSpPr>
            <a:spLocks noGrp="1"/>
          </p:cNvSpPr>
          <p:nvPr>
            <p:ph type="title"/>
          </p:nvPr>
        </p:nvSpPr>
        <p:spPr>
          <a:xfrm>
            <a:off x="457200" y="274638"/>
            <a:ext cx="8229600" cy="3235478"/>
          </a:xfrm>
        </p:spPr>
        <p:txBody>
          <a:bodyPr>
            <a:normAutofit/>
          </a:bodyPr>
          <a:lstStyle/>
          <a:p>
            <a:r>
              <a:rPr lang="en-IN" sz="6000" dirty="0">
                <a:latin typeface="Algerian" panose="04020705040A02060702" pitchFamily="82" charset="0"/>
              </a:rPr>
              <a:t>THANK YOU</a:t>
            </a:r>
          </a:p>
        </p:txBody>
      </p:sp>
    </p:spTree>
    <p:extLst>
      <p:ext uri="{BB962C8B-B14F-4D97-AF65-F5344CB8AC3E}">
        <p14:creationId xmlns:p14="http://schemas.microsoft.com/office/powerpoint/2010/main" val="1487648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727</TotalTime>
  <Words>1017</Words>
  <Application>Microsoft Office PowerPoint</Application>
  <PresentationFormat>On-screen Show (4:3)</PresentationFormat>
  <Paragraphs>104</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Algerian</vt:lpstr>
      <vt:lpstr>Arial</vt:lpstr>
      <vt:lpstr>Calibri</vt:lpstr>
      <vt:lpstr>Courier New</vt:lpstr>
      <vt:lpstr>Times New Roman</vt:lpstr>
      <vt:lpstr>Wingdings</vt:lpstr>
      <vt:lpstr>Office Theme</vt:lpstr>
      <vt:lpstr>PALEOVISION</vt:lpstr>
      <vt:lpstr>DATASET OVERVIEW</vt:lpstr>
      <vt:lpstr>MEACHINE LEARNING</vt:lpstr>
      <vt:lpstr>ML PROBLEM TYPE</vt:lpstr>
      <vt:lpstr>DATA PREPROCESSING</vt:lpstr>
      <vt:lpstr>ML METHODS USED</vt:lpstr>
      <vt:lpstr>SUPERVISED LEARNING</vt:lpstr>
      <vt:lpstr>1. Linear Regression</vt:lpstr>
      <vt:lpstr>2. OneHotEncoder</vt:lpstr>
      <vt:lpstr>3. Logistic Regression</vt:lpstr>
      <vt:lpstr>4. Decision Tree</vt:lpstr>
      <vt:lpstr>5. Random Forest</vt:lpstr>
      <vt:lpstr>6. K Nearest Neighbors</vt:lpstr>
      <vt:lpstr>7. Support Vector Meachine(SVM)</vt:lpstr>
      <vt:lpstr>8. Gaussian NB</vt:lpstr>
      <vt:lpstr>9. Grid Search CV</vt:lpstr>
      <vt:lpstr>10. Ada Boost</vt:lpstr>
      <vt:lpstr>11. Gradient Boost</vt:lpstr>
      <vt:lpstr>UN-SUPERVISED LEARNING</vt:lpstr>
      <vt:lpstr>1. K-Means Clustering</vt:lpstr>
      <vt:lpstr>SAVING METHODS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WAFA SHAKKIR</dc:creator>
  <cp:keywords/>
  <dc:description>generated using python-pptx</dc:description>
  <cp:lastModifiedBy>WAFA SHAKKIR</cp:lastModifiedBy>
  <cp:revision>15</cp:revision>
  <dcterms:created xsi:type="dcterms:W3CDTF">2013-01-27T09:14:16Z</dcterms:created>
  <dcterms:modified xsi:type="dcterms:W3CDTF">2026-02-16T05:41:17Z</dcterms:modified>
  <cp:category/>
</cp:coreProperties>
</file>